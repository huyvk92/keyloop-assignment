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chose Scenario B, the Intelligent Inventory Dashboard: a current view of a dealership's stock that highlights aging vehicles and lets managers record what they plan to do about each one.</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Agenda: how I understood the brief, the architecture, how I directed and verified the AI, test coverage, and a live demo against the three requirements at the end.</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brief is short and ambiguous, so I started with a PRD written by a Business Analyst agent. I asked only one blocking question: where does persistence live? Answer: a real backend. Everything else is a documented assumption, 48 in total. Key ones: aging means strictly more than 90 days in the dealership's time zone; real-time means 60-second refresh plus manual refresh; intelligent means transparent rules, not ML; actions are five statuses plus a note, kept as append-only history.</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React and TypeScript on the front end, Fastify and SQLite on the back end, and one shared Zod contract used by both sides. The server is the single source of business truth: the UI never recomputes a rule. Every date rule reads an injected clock, so tests pin "today" and cover the 90/91 boundary, DST and time zones. History is append-only: no update or delete in the API, and database triggers block them as well. SQLite is durable and zero-ops; moving to Postgres only changes the repository layer.</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treated the AI as a team, not an autocomplete: six agents with narrow roles and preloaded best-practice rules, and skills for a spec-driven flow: PRD, TRD, build in waves, independent review, fix round. As orchestrator I ran agents in parallel only on separate files, and I verified every wave myself: the quality gate, reading the critical code, calling the real API and driving a real browser. Every decision and correction is in the AI Collaboration Log.</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feature was built test-first. Frontend: around 824 tests, about 99 percent coverage. Backend: around 369 tests, about 99 percent. On top of that, 15 Playwright end-to-end tests run against the real API, and CI enforces a minimum coverage threshold. (Show the two HTML coverage reports and read the numbers on screen.) Then: "Now let me show you it working."</a:t>
            </a:r>
            <a:endParaRPr/>
          </a:p>
        </p:txBody>
      </p:sp>
      <p:sp>
        <p:nvSpPr>
          <p:cNvPr id="178" name="Google Shape;1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Requirement 1: choose Ford, the model list narrows; Over 90 days leaves 5 vehicles; search stk-104; filters live in the URL so the view can be shared. Requirement 2: KPIs 360 total, 86 aging, 23.9 percent; the Aging stock section; custom range 90 to 91 shows 90 is not aging and 91 is. Requirement 3: View a vehicle that needs attention, log Price Reduction Planned; the history, row and Needs attention KPI (46 to 45) update without a reload; reload and it is still there; a 90-day vehicle has no form and the server returns 422. Extra: switch to Vietnamese, Export CSV.</a:t>
            </a:r>
            <a:endParaRPr/>
          </a:p>
        </p:txBody>
      </p:sp>
      <p:sp>
        <p:nvSpPr>
          <p:cNvPr id="196" name="Google Shape;1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AI wrote most of the code, but every requirement, decision and correction is traceable in the docs. I own the result because I verified it, not because I typed it. Thank you.</a:t>
            </a:r>
            <a:endParaRPr/>
          </a:p>
        </p:txBody>
      </p:sp>
      <p:sp>
        <p:nvSpPr>
          <p:cNvPr id="219" name="Google Shape;21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TITLE">
  <p:cSld name="DARK_TITLE">
    <p:bg>
      <p:bgPr>
        <a:solidFill>
          <a:schemeClr val="dk2"/>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548640" y="1417320"/>
            <a:ext cx="8046720" cy="11887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548640" y="2743200"/>
            <a:ext cx="804672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chemeClr val="accent1"/>
              </a:buClr>
              <a:buSzPts val="1800"/>
              <a:buFont typeface="Arial"/>
              <a:buNone/>
              <a:defRPr b="0" i="0" sz="1800" u="none" cap="none" strike="noStrike">
                <a:solidFill>
                  <a:schemeClr val="accen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74320"/>
            <a:ext cx="8229600"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Intelligent Inventory Dashboard · Keyloop Scenario B</a:t>
            </a:r>
            <a:endParaRPr b="0" i="0" sz="1000" u="none" cap="none" strike="noStrike">
              <a:solidFill>
                <a:schemeClr val="dk1"/>
              </a:solidFill>
              <a:latin typeface="Calibri"/>
              <a:ea typeface="Calibri"/>
              <a:cs typeface="Calibri"/>
              <a:sym typeface="Calibri"/>
            </a:endParaRPr>
          </a:p>
        </p:txBody>
      </p:sp>
      <p:sp>
        <p:nvSpPr>
          <p:cNvPr id="17" name="Google Shape;17;p3"/>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5"/>
                </a:solidFill>
                <a:latin typeface="Calibri"/>
                <a:ea typeface="Calibri"/>
                <a:cs typeface="Calibri"/>
                <a:sym typeface="Calibri"/>
              </a:defRPr>
            </a:lvl1pPr>
            <a:lvl2pPr indent="0" lvl="1" marL="0" marR="0" rtl="0" algn="r">
              <a:spcBef>
                <a:spcPts val="0"/>
              </a:spcBef>
              <a:buNone/>
              <a:defRPr b="0" i="0" sz="1000" u="none" cap="none" strike="noStrike">
                <a:solidFill>
                  <a:schemeClr val="accent5"/>
                </a:solidFill>
                <a:latin typeface="Calibri"/>
                <a:ea typeface="Calibri"/>
                <a:cs typeface="Calibri"/>
                <a:sym typeface="Calibri"/>
              </a:defRPr>
            </a:lvl2pPr>
            <a:lvl3pPr indent="0" lvl="2" marL="0" marR="0" rtl="0" algn="r">
              <a:spcBef>
                <a:spcPts val="0"/>
              </a:spcBef>
              <a:buNone/>
              <a:defRPr b="0" i="0" sz="1000" u="none" cap="none" strike="noStrike">
                <a:solidFill>
                  <a:schemeClr val="accent5"/>
                </a:solidFill>
                <a:latin typeface="Calibri"/>
                <a:ea typeface="Calibri"/>
                <a:cs typeface="Calibri"/>
                <a:sym typeface="Calibri"/>
              </a:defRPr>
            </a:lvl3pPr>
            <a:lvl4pPr indent="0" lvl="3" marL="0" marR="0" rtl="0" algn="r">
              <a:spcBef>
                <a:spcPts val="0"/>
              </a:spcBef>
              <a:buNone/>
              <a:defRPr b="0" i="0" sz="1000" u="none" cap="none" strike="noStrike">
                <a:solidFill>
                  <a:schemeClr val="accent5"/>
                </a:solidFill>
                <a:latin typeface="Calibri"/>
                <a:ea typeface="Calibri"/>
                <a:cs typeface="Calibri"/>
                <a:sym typeface="Calibri"/>
              </a:defRPr>
            </a:lvl4pPr>
            <a:lvl5pPr indent="0" lvl="4" marL="0" marR="0" rtl="0" algn="r">
              <a:spcBef>
                <a:spcPts val="0"/>
              </a:spcBef>
              <a:buNone/>
              <a:defRPr b="0" i="0" sz="1000" u="none" cap="none" strike="noStrike">
                <a:solidFill>
                  <a:schemeClr val="accent5"/>
                </a:solidFill>
                <a:latin typeface="Calibri"/>
                <a:ea typeface="Calibri"/>
                <a:cs typeface="Calibri"/>
                <a:sym typeface="Calibri"/>
              </a:defRPr>
            </a:lvl5pPr>
            <a:lvl6pPr indent="0" lvl="5" marL="0" marR="0" rtl="0" algn="r">
              <a:spcBef>
                <a:spcPts val="0"/>
              </a:spcBef>
              <a:buNone/>
              <a:defRPr b="0" i="0" sz="1000" u="none" cap="none" strike="noStrike">
                <a:solidFill>
                  <a:schemeClr val="accent5"/>
                </a:solidFill>
                <a:latin typeface="Calibri"/>
                <a:ea typeface="Calibri"/>
                <a:cs typeface="Calibri"/>
                <a:sym typeface="Calibri"/>
              </a:defRPr>
            </a:lvl6pPr>
            <a:lvl7pPr indent="0" lvl="6" marL="0" marR="0" rtl="0" algn="r">
              <a:spcBef>
                <a:spcPts val="0"/>
              </a:spcBef>
              <a:buNone/>
              <a:defRPr b="0" i="0" sz="1000" u="none" cap="none" strike="noStrike">
                <a:solidFill>
                  <a:schemeClr val="accent5"/>
                </a:solidFill>
                <a:latin typeface="Calibri"/>
                <a:ea typeface="Calibri"/>
                <a:cs typeface="Calibri"/>
                <a:sym typeface="Calibri"/>
              </a:defRPr>
            </a:lvl7pPr>
            <a:lvl8pPr indent="0" lvl="7" marL="0" marR="0" rtl="0" algn="r">
              <a:spcBef>
                <a:spcPts val="0"/>
              </a:spcBef>
              <a:buNone/>
              <a:defRPr b="0" i="0" sz="1000" u="none" cap="none" strike="noStrike">
                <a:solidFill>
                  <a:schemeClr val="accent5"/>
                </a:solidFill>
                <a:latin typeface="Calibri"/>
                <a:ea typeface="Calibri"/>
                <a:cs typeface="Calibri"/>
                <a:sym typeface="Calibri"/>
              </a:defRPr>
            </a:lvl8pPr>
            <a:lvl9pPr indent="0" lvl="8" marL="0" marR="0" rtl="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huyvk92/keyloop-assignment/blob/main/docs/SYSTEM_DESIGN.md#3-assumptions" TargetMode="External"/><Relationship Id="rId4"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hyperlink" Target="https://github.com/huyvk92/keyloop-assignment/blob/main/docs/SYSTEM_DESIGN.md#4-high-level-architectur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5"/>
          <p:cNvSpPr/>
          <p:nvPr/>
        </p:nvSpPr>
        <p:spPr>
          <a:xfrm>
            <a:off x="548640" y="548640"/>
            <a:ext cx="777240" cy="7772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p:cNvPicPr preferRelativeResize="0"/>
          <p:nvPr/>
        </p:nvPicPr>
        <p:blipFill rotWithShape="1">
          <a:blip r:embed="rId3">
            <a:alphaModFix/>
          </a:blip>
          <a:srcRect b="0" l="0" r="0" t="0"/>
          <a:stretch/>
        </p:blipFill>
        <p:spPr>
          <a:xfrm>
            <a:off x="750722" y="750722"/>
            <a:ext cx="373075" cy="373075"/>
          </a:xfrm>
          <a:prstGeom prst="rect">
            <a:avLst/>
          </a:prstGeom>
          <a:noFill/>
          <a:ln>
            <a:noFill/>
          </a:ln>
        </p:spPr>
      </p:pic>
      <p:sp>
        <p:nvSpPr>
          <p:cNvPr id="26" name="Google Shape;26;p5"/>
          <p:cNvSpPr txBox="1"/>
          <p:nvPr>
            <p:ph type="title"/>
          </p:nvPr>
        </p:nvSpPr>
        <p:spPr>
          <a:xfrm>
            <a:off x="548640" y="1417320"/>
            <a:ext cx="8046720" cy="11887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Arial"/>
              <a:buNone/>
            </a:pPr>
            <a:r>
              <a:rPr b="1" lang="en-US" sz="4000">
                <a:solidFill>
                  <a:schemeClr val="lt1"/>
                </a:solidFill>
              </a:rPr>
              <a:t>Intelligent Inventory Dashboard</a:t>
            </a:r>
            <a:endParaRPr sz="4000"/>
          </a:p>
        </p:txBody>
      </p:sp>
      <p:sp>
        <p:nvSpPr>
          <p:cNvPr id="27" name="Google Shape;27;p5"/>
          <p:cNvSpPr txBox="1"/>
          <p:nvPr>
            <p:ph idx="1" type="body"/>
          </p:nvPr>
        </p:nvSpPr>
        <p:spPr>
          <a:xfrm>
            <a:off x="548640" y="2743200"/>
            <a:ext cx="804672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1"/>
              </a:buClr>
              <a:buSzPts val="1800"/>
              <a:buNone/>
            </a:pPr>
            <a:r>
              <a:rPr lang="en-US" sz="1800">
                <a:solidFill>
                  <a:schemeClr val="accent1"/>
                </a:solidFill>
              </a:rPr>
              <a:t>Keyloop technical assessment · Scenario B (Supply)</a:t>
            </a:r>
            <a:endParaRPr sz="1800"/>
          </a:p>
        </p:txBody>
      </p:sp>
      <p:sp>
        <p:nvSpPr>
          <p:cNvPr id="28" name="Google Shape;28;p5"/>
          <p:cNvSpPr txBox="1"/>
          <p:nvPr/>
        </p:nvSpPr>
        <p:spPr>
          <a:xfrm>
            <a:off x="548640" y="4206240"/>
            <a:ext cx="8046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React 19 · Fastify · SQLite · built with directed AI agents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US" sz="2800">
                <a:solidFill>
                  <a:schemeClr val="dk2"/>
                </a:solidFill>
              </a:rPr>
              <a:t>Agenda</a:t>
            </a:r>
            <a:endParaRPr sz="2800"/>
          </a:p>
        </p:txBody>
      </p:sp>
      <p:sp>
        <p:nvSpPr>
          <p:cNvPr id="35" name="Google Shape;35;p6"/>
          <p:cNvSpPr/>
          <p:nvPr/>
        </p:nvSpPr>
        <p:spPr>
          <a:xfrm>
            <a:off x="886968" y="1600200"/>
            <a:ext cx="822960" cy="8229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nvSpPr>
        <p:spPr>
          <a:xfrm>
            <a:off x="886968" y="160020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37" name="Google Shape;37;p6"/>
          <p:cNvSpPr txBox="1"/>
          <p:nvPr/>
        </p:nvSpPr>
        <p:spPr>
          <a:xfrm>
            <a:off x="457200" y="2606040"/>
            <a:ext cx="1682496"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Understanding the brief</a:t>
            </a:r>
            <a:endParaRPr b="0" i="0" sz="1600" u="none" cap="none" strike="noStrike">
              <a:solidFill>
                <a:schemeClr val="dk1"/>
              </a:solidFill>
              <a:latin typeface="Calibri"/>
              <a:ea typeface="Calibri"/>
              <a:cs typeface="Calibri"/>
              <a:sym typeface="Calibri"/>
            </a:endParaRPr>
          </a:p>
        </p:txBody>
      </p:sp>
      <p:sp>
        <p:nvSpPr>
          <p:cNvPr id="38" name="Google Shape;38;p6"/>
          <p:cNvSpPr/>
          <p:nvPr/>
        </p:nvSpPr>
        <p:spPr>
          <a:xfrm>
            <a:off x="2569464" y="1600200"/>
            <a:ext cx="822960" cy="8229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nvSpPr>
        <p:spPr>
          <a:xfrm>
            <a:off x="2569464" y="160020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40" name="Google Shape;40;p6"/>
          <p:cNvSpPr txBox="1"/>
          <p:nvPr/>
        </p:nvSpPr>
        <p:spPr>
          <a:xfrm>
            <a:off x="2139696" y="2606040"/>
            <a:ext cx="1682496"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Architecture</a:t>
            </a:r>
            <a:endParaRPr b="0" i="0" sz="1600" u="none" cap="none" strike="noStrike">
              <a:solidFill>
                <a:schemeClr val="dk1"/>
              </a:solidFill>
              <a:latin typeface="Calibri"/>
              <a:ea typeface="Calibri"/>
              <a:cs typeface="Calibri"/>
              <a:sym typeface="Calibri"/>
            </a:endParaRPr>
          </a:p>
        </p:txBody>
      </p:sp>
      <p:sp>
        <p:nvSpPr>
          <p:cNvPr id="41" name="Google Shape;41;p6"/>
          <p:cNvSpPr/>
          <p:nvPr/>
        </p:nvSpPr>
        <p:spPr>
          <a:xfrm>
            <a:off x="4251960" y="1600200"/>
            <a:ext cx="822960" cy="8229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txBox="1"/>
          <p:nvPr/>
        </p:nvSpPr>
        <p:spPr>
          <a:xfrm>
            <a:off x="4251960" y="160020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43" name="Google Shape;43;p6"/>
          <p:cNvSpPr txBox="1"/>
          <p:nvPr/>
        </p:nvSpPr>
        <p:spPr>
          <a:xfrm>
            <a:off x="3822192" y="2606040"/>
            <a:ext cx="1682496"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Directing the AI</a:t>
            </a:r>
            <a:endParaRPr b="0" i="0" sz="1600" u="none" cap="none" strike="noStrike">
              <a:solidFill>
                <a:schemeClr val="dk1"/>
              </a:solidFill>
              <a:latin typeface="Calibri"/>
              <a:ea typeface="Calibri"/>
              <a:cs typeface="Calibri"/>
              <a:sym typeface="Calibri"/>
            </a:endParaRPr>
          </a:p>
        </p:txBody>
      </p:sp>
      <p:sp>
        <p:nvSpPr>
          <p:cNvPr id="44" name="Google Shape;44;p6"/>
          <p:cNvSpPr/>
          <p:nvPr/>
        </p:nvSpPr>
        <p:spPr>
          <a:xfrm>
            <a:off x="5934456" y="1600200"/>
            <a:ext cx="822960" cy="8229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nvSpPr>
        <p:spPr>
          <a:xfrm>
            <a:off x="5934456" y="160020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4</a:t>
            </a:r>
            <a:endParaRPr b="0" i="0" sz="2800" u="none" cap="none" strike="noStrike">
              <a:solidFill>
                <a:schemeClr val="dk1"/>
              </a:solidFill>
              <a:latin typeface="Calibri"/>
              <a:ea typeface="Calibri"/>
              <a:cs typeface="Calibri"/>
              <a:sym typeface="Calibri"/>
            </a:endParaRPr>
          </a:p>
        </p:txBody>
      </p:sp>
      <p:sp>
        <p:nvSpPr>
          <p:cNvPr id="46" name="Google Shape;46;p6"/>
          <p:cNvSpPr txBox="1"/>
          <p:nvPr/>
        </p:nvSpPr>
        <p:spPr>
          <a:xfrm>
            <a:off x="5504688" y="2606040"/>
            <a:ext cx="1682496"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Test coverage</a:t>
            </a:r>
            <a:endParaRPr b="0" i="0" sz="1600" u="none" cap="none" strike="noStrike">
              <a:solidFill>
                <a:schemeClr val="dk1"/>
              </a:solidFill>
              <a:latin typeface="Calibri"/>
              <a:ea typeface="Calibri"/>
              <a:cs typeface="Calibri"/>
              <a:sym typeface="Calibri"/>
            </a:endParaRPr>
          </a:p>
        </p:txBody>
      </p:sp>
      <p:sp>
        <p:nvSpPr>
          <p:cNvPr id="47" name="Google Shape;47;p6"/>
          <p:cNvSpPr/>
          <p:nvPr/>
        </p:nvSpPr>
        <p:spPr>
          <a:xfrm>
            <a:off x="7616952" y="1600200"/>
            <a:ext cx="822960" cy="822960"/>
          </a:xfrm>
          <a:prstGeom prst="ellipse">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txBox="1"/>
          <p:nvPr/>
        </p:nvSpPr>
        <p:spPr>
          <a:xfrm>
            <a:off x="7616952" y="160020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49" name="Google Shape;49;p6"/>
          <p:cNvSpPr txBox="1"/>
          <p:nvPr/>
        </p:nvSpPr>
        <p:spPr>
          <a:xfrm>
            <a:off x="7187184" y="2606040"/>
            <a:ext cx="1682496"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Live demo</a:t>
            </a:r>
            <a:endParaRPr b="0" i="0" sz="1600" u="none" cap="none" strike="noStrike">
              <a:solidFill>
                <a:schemeClr val="dk1"/>
              </a:solidFill>
              <a:latin typeface="Calibri"/>
              <a:ea typeface="Calibri"/>
              <a:cs typeface="Calibri"/>
              <a:sym typeface="Calibri"/>
            </a:endParaRPr>
          </a:p>
        </p:txBody>
      </p:sp>
      <p:sp>
        <p:nvSpPr>
          <p:cNvPr id="50" name="Google Shape;50;p6"/>
          <p:cNvSpPr txBox="1"/>
          <p:nvPr/>
        </p:nvSpPr>
        <p:spPr>
          <a:xfrm>
            <a:off x="457200" y="3840480"/>
            <a:ext cx="82296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The demo comes last: it proves what the first four parts claim.</a:t>
            </a:r>
            <a:endParaRPr b="0" i="0" sz="1400" u="none" cap="none" strike="noStrike">
              <a:solidFill>
                <a:schemeClr val="dk1"/>
              </a:solidFill>
              <a:latin typeface="Calibri"/>
              <a:ea typeface="Calibri"/>
              <a:cs typeface="Calibri"/>
              <a:sym typeface="Calibri"/>
            </a:endParaRPr>
          </a:p>
        </p:txBody>
      </p:sp>
      <p:sp>
        <p:nvSpPr>
          <p:cNvPr id="51" name="Google Shape;51;p6"/>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7"/>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lang="en-US"/>
              <a:t>D</a:t>
            </a:r>
            <a:r>
              <a:rPr b="1" lang="en-US" sz="2800">
                <a:solidFill>
                  <a:schemeClr val="dk2"/>
                </a:solidFill>
              </a:rPr>
              <a:t>ocumented </a:t>
            </a:r>
            <a:r>
              <a:rPr b="1" lang="en-US" sz="2800" u="sng">
                <a:solidFill>
                  <a:schemeClr val="hlink"/>
                </a:solidFill>
                <a:hlinkClick r:id="rId3"/>
              </a:rPr>
              <a:t>assumptions</a:t>
            </a:r>
            <a:endParaRPr sz="2800"/>
          </a:p>
        </p:txBody>
      </p:sp>
      <p:sp>
        <p:nvSpPr>
          <p:cNvPr id="58" name="Google Shape;58;p7"/>
          <p:cNvSpPr txBox="1"/>
          <p:nvPr/>
        </p:nvSpPr>
        <p:spPr>
          <a:xfrm>
            <a:off x="457200" y="1188720"/>
            <a:ext cx="1005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4400"/>
              <a:buFont typeface="Calibri"/>
              <a:buNone/>
            </a:pPr>
            <a:r>
              <a:rPr b="1" i="0" lang="en-US" sz="4400" u="none" cap="none" strike="noStrike">
                <a:solidFill>
                  <a:schemeClr val="accent2"/>
                </a:solidFill>
                <a:latin typeface="Calibri"/>
                <a:ea typeface="Calibri"/>
                <a:cs typeface="Calibri"/>
                <a:sym typeface="Calibri"/>
              </a:rPr>
              <a:t>1</a:t>
            </a:r>
            <a:endParaRPr b="0" i="0" sz="4400" u="none" cap="none" strike="noStrike">
              <a:solidFill>
                <a:schemeClr val="dk1"/>
              </a:solidFill>
              <a:latin typeface="Calibri"/>
              <a:ea typeface="Calibri"/>
              <a:cs typeface="Calibri"/>
              <a:sym typeface="Calibri"/>
            </a:endParaRPr>
          </a:p>
        </p:txBody>
      </p:sp>
      <p:sp>
        <p:nvSpPr>
          <p:cNvPr id="59" name="Google Shape;59;p7"/>
          <p:cNvSpPr txBox="1"/>
          <p:nvPr/>
        </p:nvSpPr>
        <p:spPr>
          <a:xfrm>
            <a:off x="1371600" y="118872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a:solidFill>
                  <a:schemeClr val="dk1"/>
                </a:solidFill>
                <a:latin typeface="Calibri"/>
                <a:ea typeface="Calibri"/>
                <a:cs typeface="Calibri"/>
                <a:sym typeface="Calibri"/>
              </a:rPr>
              <a:t>The data is saved in a real backend</a:t>
            </a:r>
            <a:endParaRPr b="0" i="0" sz="1400" u="none" cap="none" strike="noStrike">
              <a:solidFill>
                <a:schemeClr val="dk1"/>
              </a:solidFill>
              <a:latin typeface="Calibri"/>
              <a:ea typeface="Calibri"/>
              <a:cs typeface="Calibri"/>
              <a:sym typeface="Calibri"/>
            </a:endParaRPr>
          </a:p>
        </p:txBody>
      </p:sp>
      <p:sp>
        <p:nvSpPr>
          <p:cNvPr id="60" name="Google Shape;60;p7"/>
          <p:cNvSpPr txBox="1"/>
          <p:nvPr/>
        </p:nvSpPr>
        <p:spPr>
          <a:xfrm>
            <a:off x="457200" y="2331720"/>
            <a:ext cx="1005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4400"/>
              <a:buFont typeface="Calibri"/>
              <a:buNone/>
            </a:pPr>
            <a:r>
              <a:rPr b="1" i="0" lang="en-US" sz="4400" u="none" cap="none" strike="noStrike">
                <a:solidFill>
                  <a:schemeClr val="accent2"/>
                </a:solidFill>
                <a:latin typeface="Calibri"/>
                <a:ea typeface="Calibri"/>
                <a:cs typeface="Calibri"/>
                <a:sym typeface="Calibri"/>
              </a:rPr>
              <a:t>15</a:t>
            </a:r>
            <a:endParaRPr b="0" i="0" sz="4400" u="none" cap="none" strike="noStrike">
              <a:solidFill>
                <a:schemeClr val="dk1"/>
              </a:solidFill>
              <a:latin typeface="Calibri"/>
              <a:ea typeface="Calibri"/>
              <a:cs typeface="Calibri"/>
              <a:sym typeface="Calibri"/>
            </a:endParaRPr>
          </a:p>
        </p:txBody>
      </p:sp>
      <p:sp>
        <p:nvSpPr>
          <p:cNvPr id="61" name="Google Shape;61;p7"/>
          <p:cNvSpPr txBox="1"/>
          <p:nvPr/>
        </p:nvSpPr>
        <p:spPr>
          <a:xfrm>
            <a:off x="1371600" y="233172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a:solidFill>
                  <a:schemeClr val="dk1"/>
                </a:solidFill>
                <a:latin typeface="Calibri"/>
                <a:ea typeface="Calibri"/>
                <a:cs typeface="Calibri"/>
                <a:sym typeface="Calibri"/>
              </a:rPr>
              <a:t>U</a:t>
            </a:r>
            <a:r>
              <a:rPr b="0" i="0" lang="en-US" sz="1400" u="none" cap="none" strike="noStrike">
                <a:solidFill>
                  <a:schemeClr val="dk1"/>
                </a:solidFill>
                <a:latin typeface="Calibri"/>
                <a:ea typeface="Calibri"/>
                <a:cs typeface="Calibri"/>
                <a:sym typeface="Calibri"/>
              </a:rPr>
              <a:t>ser stories in the PRD (BA agent)</a:t>
            </a:r>
            <a:endParaRPr b="0" i="0" sz="1400" u="none" cap="none" strike="noStrike">
              <a:solidFill>
                <a:schemeClr val="dk1"/>
              </a:solidFill>
              <a:latin typeface="Calibri"/>
              <a:ea typeface="Calibri"/>
              <a:cs typeface="Calibri"/>
              <a:sym typeface="Calibri"/>
            </a:endParaRPr>
          </a:p>
        </p:txBody>
      </p:sp>
      <p:sp>
        <p:nvSpPr>
          <p:cNvPr id="62" name="Google Shape;62;p7"/>
          <p:cNvSpPr txBox="1"/>
          <p:nvPr/>
        </p:nvSpPr>
        <p:spPr>
          <a:xfrm>
            <a:off x="457200" y="3474720"/>
            <a:ext cx="1005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4400"/>
              <a:buFont typeface="Calibri"/>
              <a:buNone/>
            </a:pPr>
            <a:r>
              <a:rPr b="1" i="0" lang="en-US" sz="4400" u="none" cap="none" strike="noStrike">
                <a:solidFill>
                  <a:schemeClr val="accent2"/>
                </a:solidFill>
                <a:latin typeface="Calibri"/>
                <a:ea typeface="Calibri"/>
                <a:cs typeface="Calibri"/>
                <a:sym typeface="Calibri"/>
              </a:rPr>
              <a:t>48</a:t>
            </a:r>
            <a:endParaRPr b="0" i="0" sz="4400" u="none" cap="none" strike="noStrike">
              <a:solidFill>
                <a:schemeClr val="dk1"/>
              </a:solidFill>
              <a:latin typeface="Calibri"/>
              <a:ea typeface="Calibri"/>
              <a:cs typeface="Calibri"/>
              <a:sym typeface="Calibri"/>
            </a:endParaRPr>
          </a:p>
        </p:txBody>
      </p:sp>
      <p:sp>
        <p:nvSpPr>
          <p:cNvPr id="63" name="Google Shape;63;p7"/>
          <p:cNvSpPr txBox="1"/>
          <p:nvPr/>
        </p:nvSpPr>
        <p:spPr>
          <a:xfrm>
            <a:off x="1371600" y="347472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a:solidFill>
                  <a:schemeClr val="dk1"/>
                </a:solidFill>
                <a:latin typeface="Calibri"/>
                <a:ea typeface="Calibri"/>
                <a:cs typeface="Calibri"/>
                <a:sym typeface="Calibri"/>
              </a:rPr>
              <a:t>D</a:t>
            </a:r>
            <a:r>
              <a:rPr b="0" i="0" lang="en-US" sz="1400" u="none" cap="none" strike="noStrike">
                <a:solidFill>
                  <a:schemeClr val="dk1"/>
                </a:solidFill>
                <a:latin typeface="Calibri"/>
                <a:ea typeface="Calibri"/>
                <a:cs typeface="Calibri"/>
                <a:sym typeface="Calibri"/>
              </a:rPr>
              <a:t>ocumented assumptions</a:t>
            </a:r>
            <a:endParaRPr b="0" i="0" sz="1400" u="none" cap="none" strike="noStrike">
              <a:solidFill>
                <a:schemeClr val="dk1"/>
              </a:solidFill>
              <a:latin typeface="Calibri"/>
              <a:ea typeface="Calibri"/>
              <a:cs typeface="Calibri"/>
              <a:sym typeface="Calibri"/>
            </a:endParaRPr>
          </a:p>
        </p:txBody>
      </p:sp>
      <p:sp>
        <p:nvSpPr>
          <p:cNvPr id="64" name="Google Shape;64;p7"/>
          <p:cNvSpPr/>
          <p:nvPr/>
        </p:nvSpPr>
        <p:spPr>
          <a:xfrm>
            <a:off x="3840480" y="1188720"/>
            <a:ext cx="2286000" cy="1508760"/>
          </a:xfrm>
          <a:prstGeom prst="roundRect">
            <a:avLst>
              <a:gd fmla="val 484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4023360" y="137160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7"/>
          <p:cNvPicPr preferRelativeResize="0"/>
          <p:nvPr/>
        </p:nvPicPr>
        <p:blipFill rotWithShape="1">
          <a:blip r:embed="rId4">
            <a:alphaModFix/>
          </a:blip>
          <a:srcRect b="0" l="0" r="0" t="0"/>
          <a:stretch/>
        </p:blipFill>
        <p:spPr>
          <a:xfrm>
            <a:off x="4154119" y="1502359"/>
            <a:ext cx="241402" cy="241402"/>
          </a:xfrm>
          <a:prstGeom prst="rect">
            <a:avLst/>
          </a:prstGeom>
          <a:noFill/>
          <a:ln>
            <a:noFill/>
          </a:ln>
        </p:spPr>
      </p:pic>
      <p:sp>
        <p:nvSpPr>
          <p:cNvPr id="67" name="Google Shape;67;p7"/>
          <p:cNvSpPr txBox="1"/>
          <p:nvPr/>
        </p:nvSpPr>
        <p:spPr>
          <a:xfrm>
            <a:off x="4023360" y="1965960"/>
            <a:ext cx="1920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Aging = over 90 days</a:t>
            </a:r>
            <a:endParaRPr b="0" i="0" sz="1400" u="none" cap="none" strike="noStrike">
              <a:solidFill>
                <a:schemeClr val="dk1"/>
              </a:solidFill>
              <a:latin typeface="Calibri"/>
              <a:ea typeface="Calibri"/>
              <a:cs typeface="Calibri"/>
              <a:sym typeface="Calibri"/>
            </a:endParaRPr>
          </a:p>
        </p:txBody>
      </p:sp>
      <p:sp>
        <p:nvSpPr>
          <p:cNvPr id="68" name="Google Shape;68;p7"/>
          <p:cNvSpPr txBox="1"/>
          <p:nvPr/>
        </p:nvSpPr>
        <p:spPr>
          <a:xfrm>
            <a:off x="4023360" y="2240280"/>
            <a:ext cx="1965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90 days: no · 91 days: yes · dealership time zone</a:t>
            </a:r>
            <a:endParaRPr b="0" i="0" sz="1100" u="none" cap="none" strike="noStrike">
              <a:solidFill>
                <a:schemeClr val="dk1"/>
              </a:solidFill>
              <a:latin typeface="Calibri"/>
              <a:ea typeface="Calibri"/>
              <a:cs typeface="Calibri"/>
              <a:sym typeface="Calibri"/>
            </a:endParaRPr>
          </a:p>
        </p:txBody>
      </p:sp>
      <p:sp>
        <p:nvSpPr>
          <p:cNvPr id="69" name="Google Shape;69;p7"/>
          <p:cNvSpPr/>
          <p:nvPr/>
        </p:nvSpPr>
        <p:spPr>
          <a:xfrm>
            <a:off x="6309360" y="1188720"/>
            <a:ext cx="2286000" cy="1508760"/>
          </a:xfrm>
          <a:prstGeom prst="roundRect">
            <a:avLst>
              <a:gd fmla="val 484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6492240" y="137160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7"/>
          <p:cNvPicPr preferRelativeResize="0"/>
          <p:nvPr/>
        </p:nvPicPr>
        <p:blipFill rotWithShape="1">
          <a:blip r:embed="rId5">
            <a:alphaModFix/>
          </a:blip>
          <a:srcRect b="0" l="0" r="0" t="0"/>
          <a:stretch/>
        </p:blipFill>
        <p:spPr>
          <a:xfrm>
            <a:off x="6622999" y="1502359"/>
            <a:ext cx="241402" cy="241402"/>
          </a:xfrm>
          <a:prstGeom prst="rect">
            <a:avLst/>
          </a:prstGeom>
          <a:noFill/>
          <a:ln>
            <a:noFill/>
          </a:ln>
        </p:spPr>
      </p:pic>
      <p:sp>
        <p:nvSpPr>
          <p:cNvPr id="72" name="Google Shape;72;p7"/>
          <p:cNvSpPr txBox="1"/>
          <p:nvPr/>
        </p:nvSpPr>
        <p:spPr>
          <a:xfrm>
            <a:off x="6492240" y="1965960"/>
            <a:ext cx="1920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"Real-time"</a:t>
            </a:r>
            <a:endParaRPr b="0" i="0" sz="1400" u="none" cap="none" strike="noStrike">
              <a:solidFill>
                <a:schemeClr val="dk1"/>
              </a:solidFill>
              <a:latin typeface="Calibri"/>
              <a:ea typeface="Calibri"/>
              <a:cs typeface="Calibri"/>
              <a:sym typeface="Calibri"/>
            </a:endParaRPr>
          </a:p>
        </p:txBody>
      </p:sp>
      <p:sp>
        <p:nvSpPr>
          <p:cNvPr id="73" name="Google Shape;73;p7"/>
          <p:cNvSpPr txBox="1"/>
          <p:nvPr/>
        </p:nvSpPr>
        <p:spPr>
          <a:xfrm>
            <a:off x="6492240" y="2240280"/>
            <a:ext cx="1965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Refresh every 60 s + manual Refresh</a:t>
            </a:r>
            <a:endParaRPr b="0" i="0" sz="1100" u="none" cap="none" strike="noStrike">
              <a:solidFill>
                <a:schemeClr val="dk1"/>
              </a:solidFill>
              <a:latin typeface="Calibri"/>
              <a:ea typeface="Calibri"/>
              <a:cs typeface="Calibri"/>
              <a:sym typeface="Calibri"/>
            </a:endParaRPr>
          </a:p>
        </p:txBody>
      </p:sp>
      <p:sp>
        <p:nvSpPr>
          <p:cNvPr id="74" name="Google Shape;74;p7"/>
          <p:cNvSpPr/>
          <p:nvPr/>
        </p:nvSpPr>
        <p:spPr>
          <a:xfrm>
            <a:off x="3840480" y="2880360"/>
            <a:ext cx="2286000" cy="1508760"/>
          </a:xfrm>
          <a:prstGeom prst="roundRect">
            <a:avLst>
              <a:gd fmla="val 484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4023360" y="30632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7"/>
          <p:cNvPicPr preferRelativeResize="0"/>
          <p:nvPr/>
        </p:nvPicPr>
        <p:blipFill rotWithShape="1">
          <a:blip r:embed="rId6">
            <a:alphaModFix/>
          </a:blip>
          <a:srcRect b="0" l="0" r="0" t="0"/>
          <a:stretch/>
        </p:blipFill>
        <p:spPr>
          <a:xfrm>
            <a:off x="4154119" y="3193999"/>
            <a:ext cx="241402" cy="241402"/>
          </a:xfrm>
          <a:prstGeom prst="rect">
            <a:avLst/>
          </a:prstGeom>
          <a:noFill/>
          <a:ln>
            <a:noFill/>
          </a:ln>
        </p:spPr>
      </p:pic>
      <p:sp>
        <p:nvSpPr>
          <p:cNvPr id="77" name="Google Shape;77;p7"/>
          <p:cNvSpPr txBox="1"/>
          <p:nvPr/>
        </p:nvSpPr>
        <p:spPr>
          <a:xfrm>
            <a:off x="4023360" y="3657600"/>
            <a:ext cx="1920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"Intelligent"</a:t>
            </a:r>
            <a:endParaRPr b="0" i="0" sz="1400" u="none" cap="none" strike="noStrike">
              <a:solidFill>
                <a:schemeClr val="dk1"/>
              </a:solidFill>
              <a:latin typeface="Calibri"/>
              <a:ea typeface="Calibri"/>
              <a:cs typeface="Calibri"/>
              <a:sym typeface="Calibri"/>
            </a:endParaRPr>
          </a:p>
        </p:txBody>
      </p:sp>
      <p:sp>
        <p:nvSpPr>
          <p:cNvPr id="78" name="Google Shape;78;p7"/>
          <p:cNvSpPr txBox="1"/>
          <p:nvPr/>
        </p:nvSpPr>
        <p:spPr>
          <a:xfrm>
            <a:off x="4023360" y="3931920"/>
            <a:ext cx="1965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Transparent rules (KPIs, needs attention), not </a:t>
            </a:r>
            <a:r>
              <a:rPr lang="en-US" sz="1100">
                <a:solidFill>
                  <a:schemeClr val="dk1"/>
                </a:solidFill>
                <a:latin typeface="Calibri"/>
                <a:ea typeface="Calibri"/>
                <a:cs typeface="Calibri"/>
                <a:sym typeface="Calibri"/>
              </a:rPr>
              <a:t>machine learning</a:t>
            </a:r>
            <a:endParaRPr b="0" i="0" sz="1100" u="none" cap="none" strike="noStrike">
              <a:solidFill>
                <a:schemeClr val="dk1"/>
              </a:solidFill>
              <a:latin typeface="Calibri"/>
              <a:ea typeface="Calibri"/>
              <a:cs typeface="Calibri"/>
              <a:sym typeface="Calibri"/>
            </a:endParaRPr>
          </a:p>
        </p:txBody>
      </p:sp>
      <p:sp>
        <p:nvSpPr>
          <p:cNvPr id="79" name="Google Shape;79;p7"/>
          <p:cNvSpPr/>
          <p:nvPr/>
        </p:nvSpPr>
        <p:spPr>
          <a:xfrm>
            <a:off x="6309360" y="2880360"/>
            <a:ext cx="2286000" cy="1508760"/>
          </a:xfrm>
          <a:prstGeom prst="roundRect">
            <a:avLst>
              <a:gd fmla="val 484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6492240" y="30632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7"/>
          <p:cNvPicPr preferRelativeResize="0"/>
          <p:nvPr/>
        </p:nvPicPr>
        <p:blipFill rotWithShape="1">
          <a:blip r:embed="rId7">
            <a:alphaModFix/>
          </a:blip>
          <a:srcRect b="0" l="0" r="0" t="0"/>
          <a:stretch/>
        </p:blipFill>
        <p:spPr>
          <a:xfrm>
            <a:off x="6622999" y="3193999"/>
            <a:ext cx="241402" cy="241402"/>
          </a:xfrm>
          <a:prstGeom prst="rect">
            <a:avLst/>
          </a:prstGeom>
          <a:noFill/>
          <a:ln>
            <a:noFill/>
          </a:ln>
        </p:spPr>
      </p:pic>
      <p:sp>
        <p:nvSpPr>
          <p:cNvPr id="82" name="Google Shape;82;p7"/>
          <p:cNvSpPr txBox="1"/>
          <p:nvPr/>
        </p:nvSpPr>
        <p:spPr>
          <a:xfrm>
            <a:off x="6492240" y="3657600"/>
            <a:ext cx="1920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Actions</a:t>
            </a:r>
            <a:endParaRPr b="0" i="0" sz="1400" u="none" cap="none" strike="noStrike">
              <a:solidFill>
                <a:schemeClr val="dk1"/>
              </a:solidFill>
              <a:latin typeface="Calibri"/>
              <a:ea typeface="Calibri"/>
              <a:cs typeface="Calibri"/>
              <a:sym typeface="Calibri"/>
            </a:endParaRPr>
          </a:p>
        </p:txBody>
      </p:sp>
      <p:sp>
        <p:nvSpPr>
          <p:cNvPr id="83" name="Google Shape;83;p7"/>
          <p:cNvSpPr txBox="1"/>
          <p:nvPr/>
        </p:nvSpPr>
        <p:spPr>
          <a:xfrm>
            <a:off x="6492240" y="3931920"/>
            <a:ext cx="1965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5 statuses + note · append-only · no login</a:t>
            </a:r>
            <a:endParaRPr b="0" i="0" sz="1100" u="none" cap="none" strike="noStrike">
              <a:solidFill>
                <a:schemeClr val="dk1"/>
              </a:solidFill>
              <a:latin typeface="Calibri"/>
              <a:ea typeface="Calibri"/>
              <a:cs typeface="Calibri"/>
              <a:sym typeface="Calibri"/>
            </a:endParaRPr>
          </a:p>
        </p:txBody>
      </p:sp>
      <p:sp>
        <p:nvSpPr>
          <p:cNvPr id="84" name="Google Shape;84;p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US" sz="2800">
                <a:solidFill>
                  <a:schemeClr val="dk2"/>
                </a:solidFill>
              </a:rPr>
              <a:t>One shared contract, the server owns the rules</a:t>
            </a:r>
            <a:endParaRPr sz="2800"/>
          </a:p>
        </p:txBody>
      </p:sp>
      <p:sp>
        <p:nvSpPr>
          <p:cNvPr id="91" name="Google Shape;91;p8"/>
          <p:cNvSpPr/>
          <p:nvPr/>
        </p:nvSpPr>
        <p:spPr>
          <a:xfrm>
            <a:off x="457200" y="1188720"/>
            <a:ext cx="1325880" cy="146304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868680" y="1298448"/>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8"/>
          <p:cNvPicPr preferRelativeResize="0"/>
          <p:nvPr/>
        </p:nvPicPr>
        <p:blipFill rotWithShape="1">
          <a:blip r:embed="rId3">
            <a:alphaModFix/>
          </a:blip>
          <a:srcRect b="0" l="0" r="0" t="0"/>
          <a:stretch/>
        </p:blipFill>
        <p:spPr>
          <a:xfrm>
            <a:off x="999439" y="1429207"/>
            <a:ext cx="241402" cy="241402"/>
          </a:xfrm>
          <a:prstGeom prst="rect">
            <a:avLst/>
          </a:prstGeom>
          <a:noFill/>
          <a:ln>
            <a:noFill/>
          </a:ln>
        </p:spPr>
      </p:pic>
      <p:sp>
        <p:nvSpPr>
          <p:cNvPr id="94" name="Google Shape;94;p8"/>
          <p:cNvSpPr txBox="1"/>
          <p:nvPr/>
        </p:nvSpPr>
        <p:spPr>
          <a:xfrm>
            <a:off x="502920" y="1874520"/>
            <a:ext cx="1234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Web app</a:t>
            </a:r>
            <a:endParaRPr b="0" i="0" sz="1400" u="none" cap="none" strike="noStrike">
              <a:solidFill>
                <a:schemeClr val="dk1"/>
              </a:solidFill>
              <a:latin typeface="Calibri"/>
              <a:ea typeface="Calibri"/>
              <a:cs typeface="Calibri"/>
              <a:sym typeface="Calibri"/>
            </a:endParaRPr>
          </a:p>
        </p:txBody>
      </p:sp>
      <p:sp>
        <p:nvSpPr>
          <p:cNvPr id="95" name="Google Shape;95;p8"/>
          <p:cNvSpPr txBox="1"/>
          <p:nvPr/>
        </p:nvSpPr>
        <p:spPr>
          <a:xfrm>
            <a:off x="502920" y="2148840"/>
            <a:ext cx="123444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React 19 · TypeScript</a:t>
            </a:r>
            <a:endParaRPr b="0" i="0" sz="1100" u="none" cap="none" strike="noStrike">
              <a:solidFill>
                <a:schemeClr val="dk1"/>
              </a:solidFill>
              <a:latin typeface="Calibri"/>
              <a:ea typeface="Calibri"/>
              <a:cs typeface="Calibri"/>
              <a:sym typeface="Calibri"/>
            </a:endParaRPr>
          </a:p>
        </p:txBody>
      </p:sp>
      <p:sp>
        <p:nvSpPr>
          <p:cNvPr id="96" name="Google Shape;96;p8"/>
          <p:cNvSpPr/>
          <p:nvPr/>
        </p:nvSpPr>
        <p:spPr>
          <a:xfrm>
            <a:off x="1810512" y="1783080"/>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2057400" y="1188720"/>
            <a:ext cx="1325880" cy="146304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2468880" y="1298448"/>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 name="Google Shape;99;p8"/>
          <p:cNvPicPr preferRelativeResize="0"/>
          <p:nvPr/>
        </p:nvPicPr>
        <p:blipFill rotWithShape="1">
          <a:blip r:embed="rId4">
            <a:alphaModFix/>
          </a:blip>
          <a:srcRect b="0" l="0" r="0" t="0"/>
          <a:stretch/>
        </p:blipFill>
        <p:spPr>
          <a:xfrm>
            <a:off x="2599639" y="1429207"/>
            <a:ext cx="241402" cy="241402"/>
          </a:xfrm>
          <a:prstGeom prst="rect">
            <a:avLst/>
          </a:prstGeom>
          <a:noFill/>
          <a:ln>
            <a:noFill/>
          </a:ln>
        </p:spPr>
      </p:pic>
      <p:sp>
        <p:nvSpPr>
          <p:cNvPr id="100" name="Google Shape;100;p8"/>
          <p:cNvSpPr txBox="1"/>
          <p:nvPr/>
        </p:nvSpPr>
        <p:spPr>
          <a:xfrm>
            <a:off x="2103120" y="1874520"/>
            <a:ext cx="1234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API</a:t>
            </a:r>
            <a:endParaRPr b="0" i="0" sz="1400" u="none" cap="none" strike="noStrike">
              <a:solidFill>
                <a:schemeClr val="dk1"/>
              </a:solidFill>
              <a:latin typeface="Calibri"/>
              <a:ea typeface="Calibri"/>
              <a:cs typeface="Calibri"/>
              <a:sym typeface="Calibri"/>
            </a:endParaRPr>
          </a:p>
        </p:txBody>
      </p:sp>
      <p:sp>
        <p:nvSpPr>
          <p:cNvPr id="101" name="Google Shape;101;p8"/>
          <p:cNvSpPr txBox="1"/>
          <p:nvPr/>
        </p:nvSpPr>
        <p:spPr>
          <a:xfrm>
            <a:off x="2103120" y="2148840"/>
            <a:ext cx="123444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Fastify 5 · Zod</a:t>
            </a:r>
            <a:endParaRPr b="0" i="0" sz="1100" u="none" cap="none" strike="noStrike">
              <a:solidFill>
                <a:schemeClr val="dk1"/>
              </a:solidFill>
              <a:latin typeface="Calibri"/>
              <a:ea typeface="Calibri"/>
              <a:cs typeface="Calibri"/>
              <a:sym typeface="Calibri"/>
            </a:endParaRPr>
          </a:p>
        </p:txBody>
      </p:sp>
      <p:sp>
        <p:nvSpPr>
          <p:cNvPr id="102" name="Google Shape;102;p8"/>
          <p:cNvSpPr/>
          <p:nvPr/>
        </p:nvSpPr>
        <p:spPr>
          <a:xfrm>
            <a:off x="3410712" y="1783080"/>
            <a:ext cx="219456" cy="274320"/>
          </a:xfrm>
          <a:prstGeom prst="rightArrow">
            <a:avLst>
              <a:gd fmla="val 50000" name="adj1"/>
              <a:gd fmla="val 50000" name="adj2"/>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3657600" y="1188720"/>
            <a:ext cx="1325880" cy="146304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4069080" y="1298448"/>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8"/>
          <p:cNvPicPr preferRelativeResize="0"/>
          <p:nvPr/>
        </p:nvPicPr>
        <p:blipFill rotWithShape="1">
          <a:blip r:embed="rId5">
            <a:alphaModFix/>
          </a:blip>
          <a:srcRect b="0" l="0" r="0" t="0"/>
          <a:stretch/>
        </p:blipFill>
        <p:spPr>
          <a:xfrm>
            <a:off x="4199839" y="1429207"/>
            <a:ext cx="241402" cy="241402"/>
          </a:xfrm>
          <a:prstGeom prst="rect">
            <a:avLst/>
          </a:prstGeom>
          <a:noFill/>
          <a:ln>
            <a:noFill/>
          </a:ln>
        </p:spPr>
      </p:pic>
      <p:sp>
        <p:nvSpPr>
          <p:cNvPr id="106" name="Google Shape;106;p8"/>
          <p:cNvSpPr txBox="1"/>
          <p:nvPr/>
        </p:nvSpPr>
        <p:spPr>
          <a:xfrm>
            <a:off x="3703320" y="1874520"/>
            <a:ext cx="1234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Database</a:t>
            </a:r>
            <a:endParaRPr b="0" i="0" sz="1400" u="none" cap="none" strike="noStrike">
              <a:solidFill>
                <a:schemeClr val="dk1"/>
              </a:solidFill>
              <a:latin typeface="Calibri"/>
              <a:ea typeface="Calibri"/>
              <a:cs typeface="Calibri"/>
              <a:sym typeface="Calibri"/>
            </a:endParaRPr>
          </a:p>
        </p:txBody>
      </p:sp>
      <p:sp>
        <p:nvSpPr>
          <p:cNvPr id="107" name="Google Shape;107;p8"/>
          <p:cNvSpPr txBox="1"/>
          <p:nvPr/>
        </p:nvSpPr>
        <p:spPr>
          <a:xfrm>
            <a:off x="3703320" y="2148840"/>
            <a:ext cx="123444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SQLite · append-only</a:t>
            </a:r>
            <a:endParaRPr b="0" i="0" sz="1100" u="none" cap="none" strike="noStrike">
              <a:solidFill>
                <a:schemeClr val="dk1"/>
              </a:solidFill>
              <a:latin typeface="Calibri"/>
              <a:ea typeface="Calibri"/>
              <a:cs typeface="Calibri"/>
              <a:sym typeface="Calibri"/>
            </a:endParaRPr>
          </a:p>
        </p:txBody>
      </p:sp>
      <p:sp>
        <p:nvSpPr>
          <p:cNvPr id="108" name="Google Shape;108;p8"/>
          <p:cNvSpPr/>
          <p:nvPr/>
        </p:nvSpPr>
        <p:spPr>
          <a:xfrm>
            <a:off x="457200" y="2880360"/>
            <a:ext cx="2926080" cy="685800"/>
          </a:xfrm>
          <a:prstGeom prst="roundRect">
            <a:avLst>
              <a:gd fmla="val 1066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566928" y="29718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8"/>
          <p:cNvPicPr preferRelativeResize="0"/>
          <p:nvPr/>
        </p:nvPicPr>
        <p:blipFill rotWithShape="1">
          <a:blip r:embed="rId6">
            <a:alphaModFix/>
          </a:blip>
          <a:srcRect b="0" l="0" r="0" t="0"/>
          <a:stretch/>
        </p:blipFill>
        <p:spPr>
          <a:xfrm>
            <a:off x="697687" y="3102559"/>
            <a:ext cx="241402" cy="241402"/>
          </a:xfrm>
          <a:prstGeom prst="rect">
            <a:avLst/>
          </a:prstGeom>
          <a:noFill/>
          <a:ln>
            <a:noFill/>
          </a:ln>
        </p:spPr>
      </p:pic>
      <p:sp>
        <p:nvSpPr>
          <p:cNvPr id="111" name="Google Shape;111;p8"/>
          <p:cNvSpPr txBox="1"/>
          <p:nvPr/>
        </p:nvSpPr>
        <p:spPr>
          <a:xfrm>
            <a:off x="1188720" y="2944368"/>
            <a:ext cx="21488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Shared Zod contract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1100"/>
              <a:buFont typeface="Calibri"/>
              <a:buNone/>
            </a:pPr>
            <a:r>
              <a:rPr b="0" i="0" lang="en-US" sz="1100" u="none" cap="none" strike="noStrike">
                <a:solidFill>
                  <a:schemeClr val="dk2"/>
                </a:solidFill>
                <a:latin typeface="Calibri"/>
                <a:ea typeface="Calibri"/>
                <a:cs typeface="Calibri"/>
                <a:sym typeface="Calibri"/>
              </a:rPr>
              <a:t>one schema validates web + API</a:t>
            </a:r>
            <a:endParaRPr b="0" i="0" sz="1400" u="none" cap="none" strike="noStrike">
              <a:solidFill>
                <a:schemeClr val="dk1"/>
              </a:solidFill>
              <a:latin typeface="Calibri"/>
              <a:ea typeface="Calibri"/>
              <a:cs typeface="Calibri"/>
              <a:sym typeface="Calibri"/>
            </a:endParaRPr>
          </a:p>
        </p:txBody>
      </p:sp>
      <p:sp>
        <p:nvSpPr>
          <p:cNvPr id="112" name="Google Shape;112;p8"/>
          <p:cNvSpPr/>
          <p:nvPr/>
        </p:nvSpPr>
        <p:spPr>
          <a:xfrm>
            <a:off x="5257800" y="1234440"/>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8"/>
          <p:cNvPicPr preferRelativeResize="0"/>
          <p:nvPr/>
        </p:nvPicPr>
        <p:blipFill rotWithShape="1">
          <a:blip r:embed="rId7">
            <a:alphaModFix/>
          </a:blip>
          <a:srcRect b="0" l="0" r="0" t="0"/>
          <a:stretch/>
        </p:blipFill>
        <p:spPr>
          <a:xfrm>
            <a:off x="5352898" y="1329538"/>
            <a:ext cx="175565" cy="175565"/>
          </a:xfrm>
          <a:prstGeom prst="rect">
            <a:avLst/>
          </a:prstGeom>
          <a:noFill/>
          <a:ln>
            <a:noFill/>
          </a:ln>
        </p:spPr>
      </p:pic>
      <p:sp>
        <p:nvSpPr>
          <p:cNvPr id="114" name="Google Shape;114;p8"/>
          <p:cNvSpPr txBox="1"/>
          <p:nvPr/>
        </p:nvSpPr>
        <p:spPr>
          <a:xfrm>
            <a:off x="5760720" y="1188720"/>
            <a:ext cx="2926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Server computes everything</a:t>
            </a:r>
            <a:endParaRPr b="0" i="0" sz="1400" u="none" cap="none" strike="noStrike">
              <a:solidFill>
                <a:schemeClr val="dk1"/>
              </a:solidFill>
              <a:latin typeface="Calibri"/>
              <a:ea typeface="Calibri"/>
              <a:cs typeface="Calibri"/>
              <a:sym typeface="Calibri"/>
            </a:endParaRPr>
          </a:p>
        </p:txBody>
      </p:sp>
      <p:sp>
        <p:nvSpPr>
          <p:cNvPr id="115" name="Google Shape;115;p8"/>
          <p:cNvSpPr txBox="1"/>
          <p:nvPr/>
        </p:nvSpPr>
        <p:spPr>
          <a:xfrm>
            <a:off x="5760720" y="1481328"/>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Age, aging flag, KPIs, filtering, sorting, paging</a:t>
            </a:r>
            <a:endParaRPr b="0" i="0" sz="1100" u="none" cap="none" strike="noStrike">
              <a:solidFill>
                <a:schemeClr val="dk1"/>
              </a:solidFill>
              <a:latin typeface="Calibri"/>
              <a:ea typeface="Calibri"/>
              <a:cs typeface="Calibri"/>
              <a:sym typeface="Calibri"/>
            </a:endParaRPr>
          </a:p>
        </p:txBody>
      </p:sp>
      <p:sp>
        <p:nvSpPr>
          <p:cNvPr id="116" name="Google Shape;116;p8"/>
          <p:cNvSpPr/>
          <p:nvPr/>
        </p:nvSpPr>
        <p:spPr>
          <a:xfrm>
            <a:off x="5257800" y="2075688"/>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8"/>
          <p:cNvPicPr preferRelativeResize="0"/>
          <p:nvPr/>
        </p:nvPicPr>
        <p:blipFill rotWithShape="1">
          <a:blip r:embed="rId7">
            <a:alphaModFix/>
          </a:blip>
          <a:srcRect b="0" l="0" r="0" t="0"/>
          <a:stretch/>
        </p:blipFill>
        <p:spPr>
          <a:xfrm>
            <a:off x="5352898" y="2170786"/>
            <a:ext cx="175565" cy="175565"/>
          </a:xfrm>
          <a:prstGeom prst="rect">
            <a:avLst/>
          </a:prstGeom>
          <a:noFill/>
          <a:ln>
            <a:noFill/>
          </a:ln>
        </p:spPr>
      </p:pic>
      <p:sp>
        <p:nvSpPr>
          <p:cNvPr id="118" name="Google Shape;118;p8"/>
          <p:cNvSpPr txBox="1"/>
          <p:nvPr/>
        </p:nvSpPr>
        <p:spPr>
          <a:xfrm>
            <a:off x="5760720" y="2029968"/>
            <a:ext cx="2926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Injected clock</a:t>
            </a:r>
            <a:endParaRPr b="0" i="0" sz="1400" u="none" cap="none" strike="noStrike">
              <a:solidFill>
                <a:schemeClr val="dk1"/>
              </a:solidFill>
              <a:latin typeface="Calibri"/>
              <a:ea typeface="Calibri"/>
              <a:cs typeface="Calibri"/>
              <a:sym typeface="Calibri"/>
            </a:endParaRPr>
          </a:p>
        </p:txBody>
      </p:sp>
      <p:sp>
        <p:nvSpPr>
          <p:cNvPr id="119" name="Google Shape;119;p8"/>
          <p:cNvSpPr txBox="1"/>
          <p:nvPr/>
        </p:nvSpPr>
        <p:spPr>
          <a:xfrm>
            <a:off x="5760720" y="2322576"/>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Fixed "today" in tests: 90/91 boundary, </a:t>
            </a:r>
            <a:r>
              <a:rPr lang="en-US" sz="1100">
                <a:solidFill>
                  <a:schemeClr val="dk1"/>
                </a:solidFill>
                <a:latin typeface="Calibri"/>
                <a:ea typeface="Calibri"/>
                <a:cs typeface="Calibri"/>
                <a:sym typeface="Calibri"/>
              </a:rPr>
              <a:t>Daylight saving time (</a:t>
            </a:r>
            <a:r>
              <a:rPr b="0" i="0" lang="en-US" sz="1100" u="none" cap="none" strike="noStrike">
                <a:solidFill>
                  <a:schemeClr val="dk1"/>
                </a:solidFill>
                <a:latin typeface="Calibri"/>
                <a:ea typeface="Calibri"/>
                <a:cs typeface="Calibri"/>
                <a:sym typeface="Calibri"/>
              </a:rPr>
              <a:t>DST), time zones</a:t>
            </a:r>
            <a:endParaRPr b="0" i="0" sz="1100" u="none" cap="none" strike="noStrike">
              <a:solidFill>
                <a:schemeClr val="dk1"/>
              </a:solidFill>
              <a:latin typeface="Calibri"/>
              <a:ea typeface="Calibri"/>
              <a:cs typeface="Calibri"/>
              <a:sym typeface="Calibri"/>
            </a:endParaRPr>
          </a:p>
        </p:txBody>
      </p:sp>
      <p:sp>
        <p:nvSpPr>
          <p:cNvPr id="120" name="Google Shape;120;p8"/>
          <p:cNvSpPr/>
          <p:nvPr/>
        </p:nvSpPr>
        <p:spPr>
          <a:xfrm>
            <a:off x="5257800" y="2916936"/>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8"/>
          <p:cNvPicPr preferRelativeResize="0"/>
          <p:nvPr/>
        </p:nvPicPr>
        <p:blipFill rotWithShape="1">
          <a:blip r:embed="rId7">
            <a:alphaModFix/>
          </a:blip>
          <a:srcRect b="0" l="0" r="0" t="0"/>
          <a:stretch/>
        </p:blipFill>
        <p:spPr>
          <a:xfrm>
            <a:off x="5352898" y="3012034"/>
            <a:ext cx="175565" cy="175565"/>
          </a:xfrm>
          <a:prstGeom prst="rect">
            <a:avLst/>
          </a:prstGeom>
          <a:noFill/>
          <a:ln>
            <a:noFill/>
          </a:ln>
        </p:spPr>
      </p:pic>
      <p:sp>
        <p:nvSpPr>
          <p:cNvPr id="122" name="Google Shape;122;p8"/>
          <p:cNvSpPr txBox="1"/>
          <p:nvPr/>
        </p:nvSpPr>
        <p:spPr>
          <a:xfrm>
            <a:off x="5760720" y="2871216"/>
            <a:ext cx="2926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Append-only history</a:t>
            </a:r>
            <a:endParaRPr b="0" i="0" sz="1400" u="none" cap="none" strike="noStrike">
              <a:solidFill>
                <a:schemeClr val="dk1"/>
              </a:solidFill>
              <a:latin typeface="Calibri"/>
              <a:ea typeface="Calibri"/>
              <a:cs typeface="Calibri"/>
              <a:sym typeface="Calibri"/>
            </a:endParaRPr>
          </a:p>
        </p:txBody>
      </p:sp>
      <p:sp>
        <p:nvSpPr>
          <p:cNvPr id="123" name="Google Shape;123;p8"/>
          <p:cNvSpPr txBox="1"/>
          <p:nvPr/>
        </p:nvSpPr>
        <p:spPr>
          <a:xfrm>
            <a:off x="5760720" y="3163824"/>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No update/delete in the API, blocked by DB triggers too</a:t>
            </a:r>
            <a:endParaRPr b="0" i="0" sz="1100" u="none" cap="none" strike="noStrike">
              <a:solidFill>
                <a:schemeClr val="dk1"/>
              </a:solidFill>
              <a:latin typeface="Calibri"/>
              <a:ea typeface="Calibri"/>
              <a:cs typeface="Calibri"/>
              <a:sym typeface="Calibri"/>
            </a:endParaRPr>
          </a:p>
        </p:txBody>
      </p:sp>
      <p:sp>
        <p:nvSpPr>
          <p:cNvPr id="124" name="Google Shape;124;p8"/>
          <p:cNvSpPr/>
          <p:nvPr/>
        </p:nvSpPr>
        <p:spPr>
          <a:xfrm>
            <a:off x="5257800" y="3758184"/>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8"/>
          <p:cNvPicPr preferRelativeResize="0"/>
          <p:nvPr/>
        </p:nvPicPr>
        <p:blipFill rotWithShape="1">
          <a:blip r:embed="rId7">
            <a:alphaModFix/>
          </a:blip>
          <a:srcRect b="0" l="0" r="0" t="0"/>
          <a:stretch/>
        </p:blipFill>
        <p:spPr>
          <a:xfrm>
            <a:off x="5352898" y="3853282"/>
            <a:ext cx="175565" cy="175565"/>
          </a:xfrm>
          <a:prstGeom prst="rect">
            <a:avLst/>
          </a:prstGeom>
          <a:noFill/>
          <a:ln>
            <a:noFill/>
          </a:ln>
        </p:spPr>
      </p:pic>
      <p:sp>
        <p:nvSpPr>
          <p:cNvPr id="126" name="Google Shape;126;p8"/>
          <p:cNvSpPr txBox="1"/>
          <p:nvPr/>
        </p:nvSpPr>
        <p:spPr>
          <a:xfrm>
            <a:off x="5760720" y="3712464"/>
            <a:ext cx="2926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Clear error order</a:t>
            </a:r>
            <a:endParaRPr b="0" i="0" sz="1400" u="none" cap="none" strike="noStrike">
              <a:solidFill>
                <a:schemeClr val="dk1"/>
              </a:solidFill>
              <a:latin typeface="Calibri"/>
              <a:ea typeface="Calibri"/>
              <a:cs typeface="Calibri"/>
              <a:sym typeface="Calibri"/>
            </a:endParaRPr>
          </a:p>
        </p:txBody>
      </p:sp>
      <p:sp>
        <p:nvSpPr>
          <p:cNvPr id="127" name="Google Shape;127;p8"/>
          <p:cNvSpPr txBox="1"/>
          <p:nvPr/>
        </p:nvSpPr>
        <p:spPr>
          <a:xfrm>
            <a:off x="5760720" y="4005072"/>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400 invalid → 404 not found → 422 not aging; nothing stored</a:t>
            </a:r>
            <a:endParaRPr b="0" i="0" sz="1100" u="none" cap="none" strike="noStrike">
              <a:solidFill>
                <a:schemeClr val="dk1"/>
              </a:solidFill>
              <a:latin typeface="Calibri"/>
              <a:ea typeface="Calibri"/>
              <a:cs typeface="Calibri"/>
              <a:sym typeface="Calibri"/>
            </a:endParaRPr>
          </a:p>
        </p:txBody>
      </p:sp>
      <p:sp>
        <p:nvSpPr>
          <p:cNvPr id="128" name="Google Shape;128;p8"/>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
        <p:nvSpPr>
          <p:cNvPr id="129" name="Google Shape;129;p8"/>
          <p:cNvSpPr txBox="1"/>
          <p:nvPr/>
        </p:nvSpPr>
        <p:spPr>
          <a:xfrm>
            <a:off x="457200" y="3809350"/>
            <a:ext cx="4526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Refer: </a:t>
            </a:r>
            <a:r>
              <a:rPr b="1" lang="en-US" sz="1200" u="sng">
                <a:solidFill>
                  <a:schemeClr val="hlink"/>
                </a:solidFill>
                <a:hlinkClick r:id="rId8"/>
              </a:rPr>
              <a:t>https://github.com/huyvk92/keyloop-assignment/blob/main/docs/SYSTEM_DESIGN.md#4-high-level-architecture</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US" sz="2800">
                <a:solidFill>
                  <a:schemeClr val="dk2"/>
                </a:solidFill>
              </a:rPr>
              <a:t>AI as a team, me as the orchestrator</a:t>
            </a:r>
            <a:endParaRPr sz="2800"/>
          </a:p>
        </p:txBody>
      </p:sp>
      <p:sp>
        <p:nvSpPr>
          <p:cNvPr id="136" name="Google Shape;136;p9"/>
          <p:cNvSpPr/>
          <p:nvPr/>
        </p:nvSpPr>
        <p:spPr>
          <a:xfrm>
            <a:off x="457200" y="1143000"/>
            <a:ext cx="1691640" cy="594360"/>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txBox="1"/>
          <p:nvPr/>
        </p:nvSpPr>
        <p:spPr>
          <a:xfrm>
            <a:off x="685800" y="1143000"/>
            <a:ext cx="12344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PRD</a:t>
            </a:r>
            <a:endParaRPr b="0" i="0" sz="1200" u="none" cap="none" strike="noStrike">
              <a:solidFill>
                <a:schemeClr val="dk1"/>
              </a:solidFill>
              <a:latin typeface="Calibri"/>
              <a:ea typeface="Calibri"/>
              <a:cs typeface="Calibri"/>
              <a:sym typeface="Calibri"/>
            </a:endParaRPr>
          </a:p>
        </p:txBody>
      </p:sp>
      <p:sp>
        <p:nvSpPr>
          <p:cNvPr id="138" name="Google Shape;138;p9"/>
          <p:cNvSpPr/>
          <p:nvPr/>
        </p:nvSpPr>
        <p:spPr>
          <a:xfrm>
            <a:off x="2103120" y="1143000"/>
            <a:ext cx="1691640" cy="594360"/>
          </a:xfrm>
          <a:prstGeom prst="chevron">
            <a:avLst>
              <a:gd fmla="val 50000"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txBox="1"/>
          <p:nvPr/>
        </p:nvSpPr>
        <p:spPr>
          <a:xfrm>
            <a:off x="2331720" y="1143000"/>
            <a:ext cx="12344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TRD</a:t>
            </a:r>
            <a:endParaRPr b="0" i="0" sz="1200" u="none" cap="none" strike="noStrike">
              <a:solidFill>
                <a:schemeClr val="dk1"/>
              </a:solidFill>
              <a:latin typeface="Calibri"/>
              <a:ea typeface="Calibri"/>
              <a:cs typeface="Calibri"/>
              <a:sym typeface="Calibri"/>
            </a:endParaRPr>
          </a:p>
        </p:txBody>
      </p:sp>
      <p:sp>
        <p:nvSpPr>
          <p:cNvPr id="140" name="Google Shape;140;p9"/>
          <p:cNvSpPr/>
          <p:nvPr/>
        </p:nvSpPr>
        <p:spPr>
          <a:xfrm>
            <a:off x="3749040" y="1143000"/>
            <a:ext cx="1691640" cy="594360"/>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txBox="1"/>
          <p:nvPr/>
        </p:nvSpPr>
        <p:spPr>
          <a:xfrm>
            <a:off x="3977640" y="1143000"/>
            <a:ext cx="12344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Build in waves</a:t>
            </a:r>
            <a:endParaRPr b="0" i="0" sz="1200" u="none" cap="none" strike="noStrike">
              <a:solidFill>
                <a:schemeClr val="dk1"/>
              </a:solidFill>
              <a:latin typeface="Calibri"/>
              <a:ea typeface="Calibri"/>
              <a:cs typeface="Calibri"/>
              <a:sym typeface="Calibri"/>
            </a:endParaRPr>
          </a:p>
        </p:txBody>
      </p:sp>
      <p:sp>
        <p:nvSpPr>
          <p:cNvPr id="142" name="Google Shape;142;p9"/>
          <p:cNvSpPr/>
          <p:nvPr/>
        </p:nvSpPr>
        <p:spPr>
          <a:xfrm>
            <a:off x="5394960" y="1143000"/>
            <a:ext cx="1691640" cy="594360"/>
          </a:xfrm>
          <a:prstGeom prst="chevron">
            <a:avLst>
              <a:gd fmla="val 50000"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txBox="1"/>
          <p:nvPr/>
        </p:nvSpPr>
        <p:spPr>
          <a:xfrm>
            <a:off x="5623560" y="1143000"/>
            <a:ext cx="12344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Independent review</a:t>
            </a:r>
            <a:endParaRPr b="0" i="0" sz="1200" u="none" cap="none" strike="noStrike">
              <a:solidFill>
                <a:schemeClr val="dk1"/>
              </a:solidFill>
              <a:latin typeface="Calibri"/>
              <a:ea typeface="Calibri"/>
              <a:cs typeface="Calibri"/>
              <a:sym typeface="Calibri"/>
            </a:endParaRPr>
          </a:p>
        </p:txBody>
      </p:sp>
      <p:sp>
        <p:nvSpPr>
          <p:cNvPr id="144" name="Google Shape;144;p9"/>
          <p:cNvSpPr/>
          <p:nvPr/>
        </p:nvSpPr>
        <p:spPr>
          <a:xfrm>
            <a:off x="7040880" y="1143000"/>
            <a:ext cx="1691640" cy="594360"/>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txBox="1"/>
          <p:nvPr/>
        </p:nvSpPr>
        <p:spPr>
          <a:xfrm>
            <a:off x="7269480" y="1143000"/>
            <a:ext cx="12344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Fix round</a:t>
            </a:r>
            <a:endParaRPr b="0" i="0" sz="1200" u="none" cap="none" strike="noStrike">
              <a:solidFill>
                <a:schemeClr val="dk1"/>
              </a:solidFill>
              <a:latin typeface="Calibri"/>
              <a:ea typeface="Calibri"/>
              <a:cs typeface="Calibri"/>
              <a:sym typeface="Calibri"/>
            </a:endParaRPr>
          </a:p>
        </p:txBody>
      </p:sp>
      <p:sp>
        <p:nvSpPr>
          <p:cNvPr id="146" name="Google Shape;146;p9"/>
          <p:cNvSpPr txBox="1"/>
          <p:nvPr/>
        </p:nvSpPr>
        <p:spPr>
          <a:xfrm>
            <a:off x="457200" y="2011680"/>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6 agents with clear roles</a:t>
            </a:r>
            <a:endParaRPr b="0" i="0" sz="1600" u="none" cap="none" strike="noStrike">
              <a:solidFill>
                <a:schemeClr val="dk1"/>
              </a:solidFill>
              <a:latin typeface="Calibri"/>
              <a:ea typeface="Calibri"/>
              <a:cs typeface="Calibri"/>
              <a:sym typeface="Calibri"/>
            </a:endParaRPr>
          </a:p>
        </p:txBody>
      </p:sp>
      <p:sp>
        <p:nvSpPr>
          <p:cNvPr id="147" name="Google Shape;147;p9"/>
          <p:cNvSpPr/>
          <p:nvPr/>
        </p:nvSpPr>
        <p:spPr>
          <a:xfrm>
            <a:off x="457200" y="2423160"/>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548640" y="2505456"/>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9"/>
          <p:cNvPicPr preferRelativeResize="0"/>
          <p:nvPr/>
        </p:nvPicPr>
        <p:blipFill rotWithShape="1">
          <a:blip r:embed="rId3">
            <a:alphaModFix/>
          </a:blip>
          <a:srcRect b="0" l="0" r="0" t="0"/>
          <a:stretch/>
        </p:blipFill>
        <p:spPr>
          <a:xfrm>
            <a:off x="643738" y="2600554"/>
            <a:ext cx="175565" cy="175565"/>
          </a:xfrm>
          <a:prstGeom prst="rect">
            <a:avLst/>
          </a:prstGeom>
          <a:noFill/>
          <a:ln>
            <a:noFill/>
          </a:ln>
        </p:spPr>
      </p:pic>
      <p:sp>
        <p:nvSpPr>
          <p:cNvPr id="150" name="Google Shape;150;p9"/>
          <p:cNvSpPr txBox="1"/>
          <p:nvPr/>
        </p:nvSpPr>
        <p:spPr>
          <a:xfrm>
            <a:off x="1005840" y="2423160"/>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Business Analyst</a:t>
            </a:r>
            <a:endParaRPr b="0" i="0" sz="1200" u="none" cap="none" strike="noStrike">
              <a:solidFill>
                <a:schemeClr val="dk1"/>
              </a:solidFill>
              <a:latin typeface="Calibri"/>
              <a:ea typeface="Calibri"/>
              <a:cs typeface="Calibri"/>
              <a:sym typeface="Calibri"/>
            </a:endParaRPr>
          </a:p>
        </p:txBody>
      </p:sp>
      <p:sp>
        <p:nvSpPr>
          <p:cNvPr id="151" name="Google Shape;151;p9"/>
          <p:cNvSpPr/>
          <p:nvPr/>
        </p:nvSpPr>
        <p:spPr>
          <a:xfrm>
            <a:off x="2514600" y="2423160"/>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2606040" y="2505456"/>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9"/>
          <p:cNvPicPr preferRelativeResize="0"/>
          <p:nvPr/>
        </p:nvPicPr>
        <p:blipFill rotWithShape="1">
          <a:blip r:embed="rId3">
            <a:alphaModFix/>
          </a:blip>
          <a:srcRect b="0" l="0" r="0" t="0"/>
          <a:stretch/>
        </p:blipFill>
        <p:spPr>
          <a:xfrm>
            <a:off x="2701138" y="2600554"/>
            <a:ext cx="175565" cy="175565"/>
          </a:xfrm>
          <a:prstGeom prst="rect">
            <a:avLst/>
          </a:prstGeom>
          <a:noFill/>
          <a:ln>
            <a:noFill/>
          </a:ln>
        </p:spPr>
      </p:pic>
      <p:sp>
        <p:nvSpPr>
          <p:cNvPr id="154" name="Google Shape;154;p9"/>
          <p:cNvSpPr txBox="1"/>
          <p:nvPr/>
        </p:nvSpPr>
        <p:spPr>
          <a:xfrm>
            <a:off x="3063240" y="2423160"/>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Tech Lead / Architect</a:t>
            </a:r>
            <a:endParaRPr b="0" i="0" sz="1200" u="none" cap="none" strike="noStrike">
              <a:solidFill>
                <a:schemeClr val="dk1"/>
              </a:solidFill>
              <a:latin typeface="Calibri"/>
              <a:ea typeface="Calibri"/>
              <a:cs typeface="Calibri"/>
              <a:sym typeface="Calibri"/>
            </a:endParaRPr>
          </a:p>
        </p:txBody>
      </p:sp>
      <p:sp>
        <p:nvSpPr>
          <p:cNvPr id="155" name="Google Shape;155;p9"/>
          <p:cNvSpPr/>
          <p:nvPr/>
        </p:nvSpPr>
        <p:spPr>
          <a:xfrm>
            <a:off x="457200" y="3081528"/>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548640" y="3163824"/>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 name="Google Shape;157;p9"/>
          <p:cNvPicPr preferRelativeResize="0"/>
          <p:nvPr/>
        </p:nvPicPr>
        <p:blipFill rotWithShape="1">
          <a:blip r:embed="rId3">
            <a:alphaModFix/>
          </a:blip>
          <a:srcRect b="0" l="0" r="0" t="0"/>
          <a:stretch/>
        </p:blipFill>
        <p:spPr>
          <a:xfrm>
            <a:off x="643738" y="3258922"/>
            <a:ext cx="175565" cy="175565"/>
          </a:xfrm>
          <a:prstGeom prst="rect">
            <a:avLst/>
          </a:prstGeom>
          <a:noFill/>
          <a:ln>
            <a:noFill/>
          </a:ln>
        </p:spPr>
      </p:pic>
      <p:sp>
        <p:nvSpPr>
          <p:cNvPr id="158" name="Google Shape;158;p9"/>
          <p:cNvSpPr txBox="1"/>
          <p:nvPr/>
        </p:nvSpPr>
        <p:spPr>
          <a:xfrm>
            <a:off x="1005840" y="3081528"/>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lang="en-US" sz="1200">
                <a:solidFill>
                  <a:schemeClr val="dk2"/>
                </a:solidFill>
                <a:latin typeface="Calibri"/>
                <a:ea typeface="Calibri"/>
                <a:cs typeface="Calibri"/>
                <a:sym typeface="Calibri"/>
              </a:rPr>
              <a:t>Front End</a:t>
            </a:r>
            <a:r>
              <a:rPr b="1" i="0" lang="en-US" sz="1200" u="none" cap="none" strike="noStrike">
                <a:solidFill>
                  <a:schemeClr val="dk2"/>
                </a:solidFill>
                <a:latin typeface="Calibri"/>
                <a:ea typeface="Calibri"/>
                <a:cs typeface="Calibri"/>
                <a:sym typeface="Calibri"/>
              </a:rPr>
              <a:t> developer</a:t>
            </a:r>
            <a:endParaRPr b="0" i="0" sz="1200" u="none" cap="none" strike="noStrike">
              <a:solidFill>
                <a:schemeClr val="dk1"/>
              </a:solidFill>
              <a:latin typeface="Calibri"/>
              <a:ea typeface="Calibri"/>
              <a:cs typeface="Calibri"/>
              <a:sym typeface="Calibri"/>
            </a:endParaRPr>
          </a:p>
        </p:txBody>
      </p:sp>
      <p:sp>
        <p:nvSpPr>
          <p:cNvPr id="159" name="Google Shape;159;p9"/>
          <p:cNvSpPr/>
          <p:nvPr/>
        </p:nvSpPr>
        <p:spPr>
          <a:xfrm>
            <a:off x="2514600" y="3081528"/>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2606040" y="3163824"/>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9"/>
          <p:cNvPicPr preferRelativeResize="0"/>
          <p:nvPr/>
        </p:nvPicPr>
        <p:blipFill rotWithShape="1">
          <a:blip r:embed="rId3">
            <a:alphaModFix/>
          </a:blip>
          <a:srcRect b="0" l="0" r="0" t="0"/>
          <a:stretch/>
        </p:blipFill>
        <p:spPr>
          <a:xfrm>
            <a:off x="2701138" y="3258922"/>
            <a:ext cx="175565" cy="175565"/>
          </a:xfrm>
          <a:prstGeom prst="rect">
            <a:avLst/>
          </a:prstGeom>
          <a:noFill/>
          <a:ln>
            <a:noFill/>
          </a:ln>
        </p:spPr>
      </p:pic>
      <p:sp>
        <p:nvSpPr>
          <p:cNvPr id="162" name="Google Shape;162;p9"/>
          <p:cNvSpPr txBox="1"/>
          <p:nvPr/>
        </p:nvSpPr>
        <p:spPr>
          <a:xfrm>
            <a:off x="3063240" y="3081528"/>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lang="en-US" sz="1200">
                <a:solidFill>
                  <a:schemeClr val="dk2"/>
                </a:solidFill>
                <a:latin typeface="Calibri"/>
                <a:ea typeface="Calibri"/>
                <a:cs typeface="Calibri"/>
                <a:sym typeface="Calibri"/>
              </a:rPr>
              <a:t>Back End</a:t>
            </a:r>
            <a:r>
              <a:rPr b="1" i="0" lang="en-US" sz="1200" u="none" cap="none" strike="noStrike">
                <a:solidFill>
                  <a:schemeClr val="dk2"/>
                </a:solidFill>
                <a:latin typeface="Calibri"/>
                <a:ea typeface="Calibri"/>
                <a:cs typeface="Calibri"/>
                <a:sym typeface="Calibri"/>
              </a:rPr>
              <a:t> developer</a:t>
            </a:r>
            <a:endParaRPr b="0" i="0" sz="1200" u="none" cap="none" strike="noStrike">
              <a:solidFill>
                <a:schemeClr val="dk1"/>
              </a:solidFill>
              <a:latin typeface="Calibri"/>
              <a:ea typeface="Calibri"/>
              <a:cs typeface="Calibri"/>
              <a:sym typeface="Calibri"/>
            </a:endParaRPr>
          </a:p>
        </p:txBody>
      </p:sp>
      <p:sp>
        <p:nvSpPr>
          <p:cNvPr id="163" name="Google Shape;163;p9"/>
          <p:cNvSpPr/>
          <p:nvPr/>
        </p:nvSpPr>
        <p:spPr>
          <a:xfrm>
            <a:off x="457200" y="3739896"/>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548640" y="3822192"/>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 name="Google Shape;165;p9"/>
          <p:cNvPicPr preferRelativeResize="0"/>
          <p:nvPr/>
        </p:nvPicPr>
        <p:blipFill rotWithShape="1">
          <a:blip r:embed="rId3">
            <a:alphaModFix/>
          </a:blip>
          <a:srcRect b="0" l="0" r="0" t="0"/>
          <a:stretch/>
        </p:blipFill>
        <p:spPr>
          <a:xfrm>
            <a:off x="643738" y="3917290"/>
            <a:ext cx="175565" cy="175565"/>
          </a:xfrm>
          <a:prstGeom prst="rect">
            <a:avLst/>
          </a:prstGeom>
          <a:noFill/>
          <a:ln>
            <a:noFill/>
          </a:ln>
        </p:spPr>
      </p:pic>
      <p:sp>
        <p:nvSpPr>
          <p:cNvPr id="166" name="Google Shape;166;p9"/>
          <p:cNvSpPr txBox="1"/>
          <p:nvPr/>
        </p:nvSpPr>
        <p:spPr>
          <a:xfrm>
            <a:off x="1005840" y="3739896"/>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Test engineer</a:t>
            </a:r>
            <a:endParaRPr b="0" i="0" sz="1200" u="none" cap="none" strike="noStrike">
              <a:solidFill>
                <a:schemeClr val="dk1"/>
              </a:solidFill>
              <a:latin typeface="Calibri"/>
              <a:ea typeface="Calibri"/>
              <a:cs typeface="Calibri"/>
              <a:sym typeface="Calibri"/>
            </a:endParaRPr>
          </a:p>
        </p:txBody>
      </p:sp>
      <p:sp>
        <p:nvSpPr>
          <p:cNvPr id="167" name="Google Shape;167;p9"/>
          <p:cNvSpPr/>
          <p:nvPr/>
        </p:nvSpPr>
        <p:spPr>
          <a:xfrm>
            <a:off x="2514600" y="3739896"/>
            <a:ext cx="1920240" cy="530352"/>
          </a:xfrm>
          <a:prstGeom prst="roundRect">
            <a:avLst>
              <a:gd fmla="val 1379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2606040" y="3822192"/>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9"/>
          <p:cNvPicPr preferRelativeResize="0"/>
          <p:nvPr/>
        </p:nvPicPr>
        <p:blipFill rotWithShape="1">
          <a:blip r:embed="rId3">
            <a:alphaModFix/>
          </a:blip>
          <a:srcRect b="0" l="0" r="0" t="0"/>
          <a:stretch/>
        </p:blipFill>
        <p:spPr>
          <a:xfrm>
            <a:off x="2701138" y="3917290"/>
            <a:ext cx="175565" cy="175565"/>
          </a:xfrm>
          <a:prstGeom prst="rect">
            <a:avLst/>
          </a:prstGeom>
          <a:noFill/>
          <a:ln>
            <a:noFill/>
          </a:ln>
        </p:spPr>
      </p:pic>
      <p:sp>
        <p:nvSpPr>
          <p:cNvPr id="170" name="Google Shape;170;p9"/>
          <p:cNvSpPr txBox="1"/>
          <p:nvPr/>
        </p:nvSpPr>
        <p:spPr>
          <a:xfrm>
            <a:off x="3063240" y="3739896"/>
            <a:ext cx="13258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Code reviewer</a:t>
            </a:r>
            <a:endParaRPr b="0" i="0" sz="1200" u="none" cap="none" strike="noStrike">
              <a:solidFill>
                <a:schemeClr val="dk1"/>
              </a:solidFill>
              <a:latin typeface="Calibri"/>
              <a:ea typeface="Calibri"/>
              <a:cs typeface="Calibri"/>
              <a:sym typeface="Calibri"/>
            </a:endParaRPr>
          </a:p>
        </p:txBody>
      </p:sp>
      <p:sp>
        <p:nvSpPr>
          <p:cNvPr id="171" name="Google Shape;171;p9"/>
          <p:cNvSpPr/>
          <p:nvPr/>
        </p:nvSpPr>
        <p:spPr>
          <a:xfrm>
            <a:off x="4846320" y="2011680"/>
            <a:ext cx="3840480" cy="2514600"/>
          </a:xfrm>
          <a:prstGeom prst="roundRect">
            <a:avLst>
              <a:gd fmla="val 290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txBox="1"/>
          <p:nvPr/>
        </p:nvSpPr>
        <p:spPr>
          <a:xfrm>
            <a:off x="5074920" y="2148840"/>
            <a:ext cx="34747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I verify every step</a:t>
            </a:r>
            <a:endParaRPr b="0" i="0" sz="1600" u="none" cap="none" strike="noStrike">
              <a:solidFill>
                <a:schemeClr val="dk1"/>
              </a:solidFill>
              <a:latin typeface="Calibri"/>
              <a:ea typeface="Calibri"/>
              <a:cs typeface="Calibri"/>
              <a:sym typeface="Calibri"/>
            </a:endParaRPr>
          </a:p>
        </p:txBody>
      </p:sp>
      <p:sp>
        <p:nvSpPr>
          <p:cNvPr id="173" name="Google Shape;173;p9"/>
          <p:cNvSpPr txBox="1"/>
          <p:nvPr/>
        </p:nvSpPr>
        <p:spPr>
          <a:xfrm>
            <a:off x="5074920" y="2560320"/>
            <a:ext cx="3474720" cy="1828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Quality gate after every wave</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Read critical code: SQL, date maths</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Call the real API</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Every decision in the AI Collaboration Log</a:t>
            </a:r>
            <a:endParaRPr b="0" i="0" sz="1400" u="none" cap="none" strike="noStrike">
              <a:solidFill>
                <a:schemeClr val="dk1"/>
              </a:solidFill>
              <a:latin typeface="Calibri"/>
              <a:ea typeface="Calibri"/>
              <a:cs typeface="Calibri"/>
              <a:sym typeface="Calibri"/>
            </a:endParaRPr>
          </a:p>
        </p:txBody>
      </p:sp>
      <p:sp>
        <p:nvSpPr>
          <p:cNvPr id="174" name="Google Shape;174;p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US" sz="2800">
                <a:solidFill>
                  <a:schemeClr val="dk2"/>
                </a:solidFill>
              </a:rPr>
              <a:t>Tested at every layer</a:t>
            </a:r>
            <a:endParaRPr sz="2800"/>
          </a:p>
        </p:txBody>
      </p:sp>
      <p:sp>
        <p:nvSpPr>
          <p:cNvPr id="181" name="Google Shape;181;p10"/>
          <p:cNvSpPr/>
          <p:nvPr/>
        </p:nvSpPr>
        <p:spPr>
          <a:xfrm>
            <a:off x="457200" y="1143000"/>
            <a:ext cx="2743200" cy="868680"/>
          </a:xfrm>
          <a:prstGeom prst="roundRect">
            <a:avLst>
              <a:gd fmla="val 842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txBox="1"/>
          <p:nvPr/>
        </p:nvSpPr>
        <p:spPr>
          <a:xfrm>
            <a:off x="640080" y="1143000"/>
            <a:ext cx="1143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600"/>
              <a:buFont typeface="Calibri"/>
              <a:buNone/>
            </a:pPr>
            <a:r>
              <a:rPr b="1" i="0" lang="en-US" sz="3600" u="none" cap="none" strike="noStrike">
                <a:solidFill>
                  <a:schemeClr val="accent2"/>
                </a:solidFill>
                <a:latin typeface="Calibri"/>
                <a:ea typeface="Calibri"/>
                <a:cs typeface="Calibri"/>
                <a:sym typeface="Calibri"/>
              </a:rPr>
              <a:t>824</a:t>
            </a:r>
            <a:endParaRPr b="0" i="0" sz="3600" u="none" cap="none" strike="noStrike">
              <a:solidFill>
                <a:schemeClr val="dk1"/>
              </a:solidFill>
              <a:latin typeface="Calibri"/>
              <a:ea typeface="Calibri"/>
              <a:cs typeface="Calibri"/>
              <a:sym typeface="Calibri"/>
            </a:endParaRPr>
          </a:p>
        </p:txBody>
      </p:sp>
      <p:sp>
        <p:nvSpPr>
          <p:cNvPr id="183" name="Google Shape;183;p10"/>
          <p:cNvSpPr txBox="1"/>
          <p:nvPr/>
        </p:nvSpPr>
        <p:spPr>
          <a:xfrm>
            <a:off x="1783075" y="1159688"/>
            <a:ext cx="1267500" cy="85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frontend tests</a:t>
            </a:r>
            <a:r>
              <a:rPr lang="en-US" sz="13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Accessibility</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sp>
        <p:nvSpPr>
          <p:cNvPr id="184" name="Google Shape;184;p10"/>
          <p:cNvSpPr/>
          <p:nvPr/>
        </p:nvSpPr>
        <p:spPr>
          <a:xfrm>
            <a:off x="457200" y="2167128"/>
            <a:ext cx="2743200" cy="868680"/>
          </a:xfrm>
          <a:prstGeom prst="roundRect">
            <a:avLst>
              <a:gd fmla="val 842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txBox="1"/>
          <p:nvPr/>
        </p:nvSpPr>
        <p:spPr>
          <a:xfrm>
            <a:off x="640080" y="2167128"/>
            <a:ext cx="1143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600"/>
              <a:buFont typeface="Calibri"/>
              <a:buNone/>
            </a:pPr>
            <a:r>
              <a:rPr b="1" i="0" lang="en-US" sz="3600" u="none" cap="none" strike="noStrike">
                <a:solidFill>
                  <a:schemeClr val="accent2"/>
                </a:solidFill>
                <a:latin typeface="Calibri"/>
                <a:ea typeface="Calibri"/>
                <a:cs typeface="Calibri"/>
                <a:sym typeface="Calibri"/>
              </a:rPr>
              <a:t>369</a:t>
            </a:r>
            <a:endParaRPr b="0" i="0" sz="3600" u="none" cap="none" strike="noStrike">
              <a:solidFill>
                <a:schemeClr val="dk1"/>
              </a:solidFill>
              <a:latin typeface="Calibri"/>
              <a:ea typeface="Calibri"/>
              <a:cs typeface="Calibri"/>
              <a:sym typeface="Calibri"/>
            </a:endParaRPr>
          </a:p>
        </p:txBody>
      </p:sp>
      <p:sp>
        <p:nvSpPr>
          <p:cNvPr id="186" name="Google Shape;186;p10"/>
          <p:cNvSpPr txBox="1"/>
          <p:nvPr/>
        </p:nvSpPr>
        <p:spPr>
          <a:xfrm>
            <a:off x="1783080" y="2167128"/>
            <a:ext cx="13258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backend tests</a:t>
            </a:r>
            <a:endParaRPr b="0" i="0" sz="1300" u="none" cap="none" strike="noStrike">
              <a:solidFill>
                <a:schemeClr val="dk1"/>
              </a:solidFill>
              <a:latin typeface="Calibri"/>
              <a:ea typeface="Calibri"/>
              <a:cs typeface="Calibri"/>
              <a:sym typeface="Calibri"/>
            </a:endParaRPr>
          </a:p>
        </p:txBody>
      </p:sp>
      <p:sp>
        <p:nvSpPr>
          <p:cNvPr id="187" name="Google Shape;187;p10"/>
          <p:cNvSpPr/>
          <p:nvPr/>
        </p:nvSpPr>
        <p:spPr>
          <a:xfrm>
            <a:off x="457200" y="3191256"/>
            <a:ext cx="2743200" cy="868680"/>
          </a:xfrm>
          <a:prstGeom prst="roundRect">
            <a:avLst>
              <a:gd fmla="val 842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txBox="1"/>
          <p:nvPr/>
        </p:nvSpPr>
        <p:spPr>
          <a:xfrm>
            <a:off x="640080" y="3191256"/>
            <a:ext cx="1143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600"/>
              <a:buFont typeface="Calibri"/>
              <a:buNone/>
            </a:pPr>
            <a:r>
              <a:rPr b="1" i="0" lang="en-US" sz="3600" u="none" cap="none" strike="noStrike">
                <a:solidFill>
                  <a:schemeClr val="accent2"/>
                </a:solidFill>
                <a:latin typeface="Calibri"/>
                <a:ea typeface="Calibri"/>
                <a:cs typeface="Calibri"/>
                <a:sym typeface="Calibri"/>
              </a:rPr>
              <a:t>15</a:t>
            </a:r>
            <a:endParaRPr b="0" i="0" sz="3600" u="none" cap="none" strike="noStrike">
              <a:solidFill>
                <a:schemeClr val="dk1"/>
              </a:solidFill>
              <a:latin typeface="Calibri"/>
              <a:ea typeface="Calibri"/>
              <a:cs typeface="Calibri"/>
              <a:sym typeface="Calibri"/>
            </a:endParaRPr>
          </a:p>
        </p:txBody>
      </p:sp>
      <p:sp>
        <p:nvSpPr>
          <p:cNvPr id="189" name="Google Shape;189;p10"/>
          <p:cNvSpPr txBox="1"/>
          <p:nvPr/>
        </p:nvSpPr>
        <p:spPr>
          <a:xfrm>
            <a:off x="1783080" y="3191256"/>
            <a:ext cx="13258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end-to-end tests on the real app</a:t>
            </a:r>
            <a:endParaRPr b="0" i="0" sz="1300" u="none" cap="none" strike="noStrike">
              <a:solidFill>
                <a:schemeClr val="dk1"/>
              </a:solidFill>
              <a:latin typeface="Calibri"/>
              <a:ea typeface="Calibri"/>
              <a:cs typeface="Calibri"/>
              <a:sym typeface="Calibri"/>
            </a:endParaRPr>
          </a:p>
        </p:txBody>
      </p:sp>
      <p:pic>
        <p:nvPicPr>
          <p:cNvPr id="190" name="Google Shape;190;p10"/>
          <p:cNvPicPr preferRelativeResize="0"/>
          <p:nvPr/>
        </p:nvPicPr>
        <p:blipFill rotWithShape="1">
          <a:blip r:embed="rId3">
            <a:alphaModFix/>
          </a:blip>
          <a:srcRect b="0" l="0" r="0" t="0"/>
          <a:stretch/>
        </p:blipFill>
        <p:spPr>
          <a:xfrm>
            <a:off x="3474720" y="1051560"/>
            <a:ext cx="5212080" cy="3063240"/>
          </a:xfrm>
          <a:prstGeom prst="rect">
            <a:avLst/>
          </a:prstGeom>
          <a:noFill/>
          <a:ln>
            <a:noFill/>
          </a:ln>
        </p:spPr>
      </p:pic>
      <p:sp>
        <p:nvSpPr>
          <p:cNvPr id="191" name="Google Shape;191;p10"/>
          <p:cNvSpPr txBox="1"/>
          <p:nvPr/>
        </p:nvSpPr>
        <p:spPr>
          <a:xfrm>
            <a:off x="5362701" y="4105700"/>
            <a:ext cx="1838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92" name="Google Shape;192;p1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type="title"/>
          </p:nvPr>
        </p:nvSpPr>
        <p:spPr>
          <a:xfrm>
            <a:off x="457200" y="27432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800"/>
              <a:buFont typeface="Arial"/>
              <a:buNone/>
            </a:pPr>
            <a:r>
              <a:rPr b="1" lang="en-US" sz="2800">
                <a:solidFill>
                  <a:schemeClr val="dk2"/>
                </a:solidFill>
              </a:rPr>
              <a:t>Live demo: the three requirements</a:t>
            </a:r>
            <a:endParaRPr sz="2800"/>
          </a:p>
        </p:txBody>
      </p:sp>
      <p:sp>
        <p:nvSpPr>
          <p:cNvPr id="199" name="Google Shape;199;p11"/>
          <p:cNvSpPr/>
          <p:nvPr/>
        </p:nvSpPr>
        <p:spPr>
          <a:xfrm>
            <a:off x="457200" y="1143000"/>
            <a:ext cx="2606040" cy="2788920"/>
          </a:xfrm>
          <a:prstGeom prst="roundRect">
            <a:avLst>
              <a:gd fmla="val 280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640080" y="1298448"/>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11"/>
          <p:cNvPicPr preferRelativeResize="0"/>
          <p:nvPr/>
        </p:nvPicPr>
        <p:blipFill rotWithShape="1">
          <a:blip r:embed="rId3">
            <a:alphaModFix/>
          </a:blip>
          <a:srcRect b="0" l="0" r="0" t="0"/>
          <a:stretch/>
        </p:blipFill>
        <p:spPr>
          <a:xfrm>
            <a:off x="782726" y="1441094"/>
            <a:ext cx="263347" cy="263347"/>
          </a:xfrm>
          <a:prstGeom prst="rect">
            <a:avLst/>
          </a:prstGeom>
          <a:noFill/>
          <a:ln>
            <a:noFill/>
          </a:ln>
        </p:spPr>
      </p:pic>
      <p:sp>
        <p:nvSpPr>
          <p:cNvPr id="202" name="Google Shape;202;p11"/>
          <p:cNvSpPr txBox="1"/>
          <p:nvPr/>
        </p:nvSpPr>
        <p:spPr>
          <a:xfrm>
            <a:off x="640080" y="1965960"/>
            <a:ext cx="2286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1  Filter the inventory</a:t>
            </a:r>
            <a:endParaRPr b="0" i="0" sz="1500" u="none" cap="none" strike="noStrike">
              <a:solidFill>
                <a:schemeClr val="dk1"/>
              </a:solidFill>
              <a:latin typeface="Calibri"/>
              <a:ea typeface="Calibri"/>
              <a:cs typeface="Calibri"/>
              <a:sym typeface="Calibri"/>
            </a:endParaRPr>
          </a:p>
        </p:txBody>
      </p:sp>
      <p:sp>
        <p:nvSpPr>
          <p:cNvPr id="203" name="Google Shape;203;p11"/>
          <p:cNvSpPr txBox="1"/>
          <p:nvPr/>
        </p:nvSpPr>
        <p:spPr>
          <a:xfrm>
            <a:off x="640080" y="2395728"/>
            <a:ext cx="228600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Make Ford → models narrow</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"Over 90 days" → 5 vehicles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Search stk-104</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Filters live in the URL</a:t>
            </a:r>
            <a:endParaRPr b="0" i="0" sz="1200" u="none" cap="none" strike="noStrike">
              <a:solidFill>
                <a:schemeClr val="dk1"/>
              </a:solidFill>
              <a:latin typeface="Calibri"/>
              <a:ea typeface="Calibri"/>
              <a:cs typeface="Calibri"/>
              <a:sym typeface="Calibri"/>
            </a:endParaRPr>
          </a:p>
        </p:txBody>
      </p:sp>
      <p:sp>
        <p:nvSpPr>
          <p:cNvPr id="204" name="Google Shape;204;p11"/>
          <p:cNvSpPr/>
          <p:nvPr/>
        </p:nvSpPr>
        <p:spPr>
          <a:xfrm>
            <a:off x="3246120" y="1143000"/>
            <a:ext cx="2606040" cy="2788920"/>
          </a:xfrm>
          <a:prstGeom prst="roundRect">
            <a:avLst>
              <a:gd fmla="val 280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3429000" y="1298448"/>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 name="Google Shape;206;p11"/>
          <p:cNvPicPr preferRelativeResize="0"/>
          <p:nvPr/>
        </p:nvPicPr>
        <p:blipFill rotWithShape="1">
          <a:blip r:embed="rId4">
            <a:alphaModFix/>
          </a:blip>
          <a:srcRect b="0" l="0" r="0" t="0"/>
          <a:stretch/>
        </p:blipFill>
        <p:spPr>
          <a:xfrm>
            <a:off x="3571646" y="1441094"/>
            <a:ext cx="263347" cy="263347"/>
          </a:xfrm>
          <a:prstGeom prst="rect">
            <a:avLst/>
          </a:prstGeom>
          <a:noFill/>
          <a:ln>
            <a:noFill/>
          </a:ln>
        </p:spPr>
      </p:pic>
      <p:sp>
        <p:nvSpPr>
          <p:cNvPr id="207" name="Google Shape;207;p11"/>
          <p:cNvSpPr txBox="1"/>
          <p:nvPr/>
        </p:nvSpPr>
        <p:spPr>
          <a:xfrm>
            <a:off x="3429000" y="1965960"/>
            <a:ext cx="2286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2  Spot aging stock</a:t>
            </a:r>
            <a:endParaRPr b="0" i="0" sz="1500" u="none" cap="none" strike="noStrike">
              <a:solidFill>
                <a:schemeClr val="dk1"/>
              </a:solidFill>
              <a:latin typeface="Calibri"/>
              <a:ea typeface="Calibri"/>
              <a:cs typeface="Calibri"/>
              <a:sym typeface="Calibri"/>
            </a:endParaRPr>
          </a:p>
        </p:txBody>
      </p:sp>
      <p:sp>
        <p:nvSpPr>
          <p:cNvPr id="208" name="Google Shape;208;p11"/>
          <p:cNvSpPr txBox="1"/>
          <p:nvPr/>
        </p:nvSpPr>
        <p:spPr>
          <a:xfrm>
            <a:off x="3429000" y="2395728"/>
            <a:ext cx="228600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KPIs: 360 · 86 aging · 23.9%</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Aging stock: 10 oldest</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Range 90–91: 90 no, 91 yes</a:t>
            </a:r>
            <a:endParaRPr b="0" i="0" sz="1200" u="none" cap="none" strike="noStrike">
              <a:solidFill>
                <a:schemeClr val="dk1"/>
              </a:solidFill>
              <a:latin typeface="Calibri"/>
              <a:ea typeface="Calibri"/>
              <a:cs typeface="Calibri"/>
              <a:sym typeface="Calibri"/>
            </a:endParaRPr>
          </a:p>
        </p:txBody>
      </p:sp>
      <p:sp>
        <p:nvSpPr>
          <p:cNvPr id="209" name="Google Shape;209;p11"/>
          <p:cNvSpPr/>
          <p:nvPr/>
        </p:nvSpPr>
        <p:spPr>
          <a:xfrm>
            <a:off x="6035040" y="1143000"/>
            <a:ext cx="2606040" cy="2788920"/>
          </a:xfrm>
          <a:prstGeom prst="roundRect">
            <a:avLst>
              <a:gd fmla="val 280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6217920" y="1298448"/>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11"/>
          <p:cNvPicPr preferRelativeResize="0"/>
          <p:nvPr/>
        </p:nvPicPr>
        <p:blipFill rotWithShape="1">
          <a:blip r:embed="rId5">
            <a:alphaModFix/>
          </a:blip>
          <a:srcRect b="0" l="0" r="0" t="0"/>
          <a:stretch/>
        </p:blipFill>
        <p:spPr>
          <a:xfrm>
            <a:off x="6360566" y="1441094"/>
            <a:ext cx="263347" cy="263347"/>
          </a:xfrm>
          <a:prstGeom prst="rect">
            <a:avLst/>
          </a:prstGeom>
          <a:noFill/>
          <a:ln>
            <a:noFill/>
          </a:ln>
        </p:spPr>
      </p:pic>
      <p:sp>
        <p:nvSpPr>
          <p:cNvPr id="212" name="Google Shape;212;p11"/>
          <p:cNvSpPr txBox="1"/>
          <p:nvPr/>
        </p:nvSpPr>
        <p:spPr>
          <a:xfrm>
            <a:off x="6217920" y="1965960"/>
            <a:ext cx="2286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3  Log and keep an action</a:t>
            </a:r>
            <a:endParaRPr b="0" i="0" sz="1500" u="none" cap="none" strike="noStrike">
              <a:solidFill>
                <a:schemeClr val="dk1"/>
              </a:solidFill>
              <a:latin typeface="Calibri"/>
              <a:ea typeface="Calibri"/>
              <a:cs typeface="Calibri"/>
              <a:sym typeface="Calibri"/>
            </a:endParaRPr>
          </a:p>
        </p:txBody>
      </p:sp>
      <p:sp>
        <p:nvSpPr>
          <p:cNvPr id="213" name="Google Shape;213;p11"/>
          <p:cNvSpPr txBox="1"/>
          <p:nvPr/>
        </p:nvSpPr>
        <p:spPr>
          <a:xfrm>
            <a:off x="6217920" y="2395728"/>
            <a:ext cx="228600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View → Price Reduction Planned</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Needs attention 46 → 45</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Reload → still there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90-day car: no form (422)</a:t>
            </a:r>
            <a:endParaRPr b="0" i="0" sz="1200" u="none" cap="none" strike="noStrike">
              <a:solidFill>
                <a:schemeClr val="dk1"/>
              </a:solidFill>
              <a:latin typeface="Calibri"/>
              <a:ea typeface="Calibri"/>
              <a:cs typeface="Calibri"/>
              <a:sym typeface="Calibri"/>
            </a:endParaRPr>
          </a:p>
        </p:txBody>
      </p:sp>
      <p:sp>
        <p:nvSpPr>
          <p:cNvPr id="214" name="Google Shape;214;p11"/>
          <p:cNvSpPr txBox="1"/>
          <p:nvPr/>
        </p:nvSpPr>
        <p:spPr>
          <a:xfrm>
            <a:off x="457200" y="4114800"/>
            <a:ext cx="8229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300" u="none" cap="none" strike="noStrike">
                <a:solidFill>
                  <a:schemeClr val="accent5"/>
                </a:solidFill>
                <a:latin typeface="Calibri"/>
                <a:ea typeface="Calibri"/>
                <a:cs typeface="Calibri"/>
                <a:sym typeface="Calibri"/>
              </a:rPr>
              <a:t>Extra: Vietnamese UI · Export CSV</a:t>
            </a:r>
            <a:endParaRPr b="0" i="0" sz="1300" u="none" cap="none" strike="noStrike">
              <a:solidFill>
                <a:schemeClr val="dk1"/>
              </a:solidFill>
              <a:latin typeface="Calibri"/>
              <a:ea typeface="Calibri"/>
              <a:cs typeface="Calibri"/>
              <a:sym typeface="Calibri"/>
            </a:endParaRPr>
          </a:p>
        </p:txBody>
      </p:sp>
      <p:sp>
        <p:nvSpPr>
          <p:cNvPr id="215" name="Google Shape;215;p11"/>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p:nvPr/>
        </p:nvSpPr>
        <p:spPr>
          <a:xfrm>
            <a:off x="548640" y="548640"/>
            <a:ext cx="777240" cy="7772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12"/>
          <p:cNvPicPr preferRelativeResize="0"/>
          <p:nvPr/>
        </p:nvPicPr>
        <p:blipFill rotWithShape="1">
          <a:blip r:embed="rId3">
            <a:alphaModFix/>
          </a:blip>
          <a:srcRect b="0" l="0" r="0" t="0"/>
          <a:stretch/>
        </p:blipFill>
        <p:spPr>
          <a:xfrm>
            <a:off x="750722" y="750722"/>
            <a:ext cx="373075" cy="373075"/>
          </a:xfrm>
          <a:prstGeom prst="rect">
            <a:avLst/>
          </a:prstGeom>
          <a:noFill/>
          <a:ln>
            <a:noFill/>
          </a:ln>
        </p:spPr>
      </p:pic>
      <p:sp>
        <p:nvSpPr>
          <p:cNvPr id="223" name="Google Shape;223;p12"/>
          <p:cNvSpPr txBox="1"/>
          <p:nvPr>
            <p:ph type="title"/>
          </p:nvPr>
        </p:nvSpPr>
        <p:spPr>
          <a:xfrm>
            <a:off x="548640" y="1417320"/>
            <a:ext cx="8046720" cy="11887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Arial"/>
              <a:buNone/>
            </a:pPr>
            <a:r>
              <a:rPr b="1" lang="en-US" sz="4000">
                <a:solidFill>
                  <a:schemeClr val="lt1"/>
                </a:solidFill>
              </a:rPr>
              <a:t>I own it because I verified it</a:t>
            </a:r>
            <a:endParaRPr sz="4000"/>
          </a:p>
        </p:txBody>
      </p:sp>
      <p:sp>
        <p:nvSpPr>
          <p:cNvPr id="224" name="Google Shape;224;p12"/>
          <p:cNvSpPr txBox="1"/>
          <p:nvPr>
            <p:ph idx="1" type="body"/>
          </p:nvPr>
        </p:nvSpPr>
        <p:spPr>
          <a:xfrm>
            <a:off x="548640" y="2743200"/>
            <a:ext cx="804672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1"/>
              </a:buClr>
              <a:buSzPts val="1800"/>
              <a:buNone/>
            </a:pPr>
            <a:r>
              <a:rPr lang="en-US" sz="1800">
                <a:solidFill>
                  <a:schemeClr val="accent1"/>
                </a:solidFill>
              </a:rPr>
              <a:t>AI wrote most of the code · every decision is traceable in docs/</a:t>
            </a:r>
            <a:endParaRPr sz="1800"/>
          </a:p>
        </p:txBody>
      </p:sp>
      <p:sp>
        <p:nvSpPr>
          <p:cNvPr id="225" name="Google Shape;225;p12"/>
          <p:cNvSpPr txBox="1"/>
          <p:nvPr/>
        </p:nvSpPr>
        <p:spPr>
          <a:xfrm>
            <a:off x="548640" y="4114800"/>
            <a:ext cx="8046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Thank you</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Inventory Amber">
  <a:themeElements>
    <a:clrScheme name="Inventory Amber">
      <a:dk1>
        <a:srgbClr val="1F2933"/>
      </a:dk1>
      <a:lt1>
        <a:srgbClr val="FFFFFF"/>
      </a:lt1>
      <a:dk2>
        <a:srgbClr val="111827"/>
      </a:dk2>
      <a:lt2>
        <a:srgbClr val="F3F4F6"/>
      </a:lt2>
      <a:accent1>
        <a:srgbClr val="F59E0B"/>
      </a:accent1>
      <a:accent2>
        <a:srgbClr val="B45309"/>
      </a:accent2>
      <a:accent3>
        <a:srgbClr val="0F766E"/>
      </a:accent3>
      <a:accent4>
        <a:srgbClr val="DC2626"/>
      </a:accent4>
      <a:accent5>
        <a:srgbClr val="64748B"/>
      </a:accent5>
      <a:accent6>
        <a:srgbClr val="1D4ED8"/>
      </a:accent6>
      <a:hlink>
        <a:srgbClr val="1D4ED8"/>
      </a:hlink>
      <a:folHlink>
        <a:srgbClr val="6D28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ventory Amber">
  <a:themeElements>
    <a:clrScheme name="Inventory Amber">
      <a:dk1>
        <a:srgbClr val="1F2933"/>
      </a:dk1>
      <a:lt1>
        <a:srgbClr val="FFFFFF"/>
      </a:lt1>
      <a:dk2>
        <a:srgbClr val="111827"/>
      </a:dk2>
      <a:lt2>
        <a:srgbClr val="F3F4F6"/>
      </a:lt2>
      <a:accent1>
        <a:srgbClr val="F59E0B"/>
      </a:accent1>
      <a:accent2>
        <a:srgbClr val="B45309"/>
      </a:accent2>
      <a:accent3>
        <a:srgbClr val="0F766E"/>
      </a:accent3>
      <a:accent4>
        <a:srgbClr val="DC2626"/>
      </a:accent4>
      <a:accent5>
        <a:srgbClr val="64748B"/>
      </a:accent5>
      <a:accent6>
        <a:srgbClr val="1D4ED8"/>
      </a:accent6>
      <a:hlink>
        <a:srgbClr val="1D4ED8"/>
      </a:hlink>
      <a:folHlink>
        <a:srgbClr val="6D28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